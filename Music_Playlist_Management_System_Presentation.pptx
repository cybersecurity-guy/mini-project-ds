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1874519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31520"/>
            <a:ext cx="1874519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DATA STRUCTURES •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7680960" cy="16002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3900" b="1">
                <a:solidFill>
                  <a:srgbClr val="F1F5F9"/>
                </a:solidFill>
                <a:latin typeface="Aptos"/>
              </a:rPr>
              <a:t>Music Playlist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82112"/>
            <a:ext cx="731520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900" b="0">
                <a:solidFill>
                  <a:srgbClr val="A6B1C3"/>
                </a:solidFill>
                <a:latin typeface="Aptos"/>
              </a:rPr>
              <a:t>A practical application of the Doubly Linked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7315200" cy="36576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1">
                <a:solidFill>
                  <a:srgbClr val="5CD3AA"/>
                </a:solidFill>
                <a:latin typeface="Aptos"/>
              </a:rPr>
              <a:t>Playlist management • Search • Navigation • Dynamic 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103120"/>
            <a:ext cx="1417320" cy="658368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F7A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121408"/>
            <a:ext cx="1417320" cy="6217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PREVIOUS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103120"/>
            <a:ext cx="1417320" cy="658368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2121408"/>
            <a:ext cx="1417320" cy="6217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01400" y="2103120"/>
            <a:ext cx="914400" cy="658368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5CD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01400" y="2121408"/>
            <a:ext cx="914400" cy="6217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2377440"/>
            <a:ext cx="182880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2377440"/>
            <a:ext cx="182880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3063240"/>
            <a:ext cx="320040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0">
                <a:solidFill>
                  <a:srgbClr val="A6B1C3"/>
                </a:solidFill>
                <a:latin typeface="Aptos"/>
              </a:rPr>
              <a:t>prev  ←  current  → 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228600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A6B1C3"/>
                </a:solidFill>
                <a:latin typeface="Aptos"/>
              </a:rPr>
              <a:t>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A6B1C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5B8DEF"/>
                </a:solidFill>
                <a:latin typeface="Aptos"/>
              </a:rP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A6B1C3"/>
                </a:solidFill>
                <a:latin typeface="Aptos"/>
              </a:rPr>
              <a:t>A focused data-structures application built around playlist navigation.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29000" cy="182880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73152" cy="1828800"/>
          </a:xfrm>
          <a:prstGeom prst="rect">
            <a:avLst/>
          </a:prstGeom>
          <a:solidFill>
            <a:srgbClr val="F7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01752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3017520" cy="10789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Managing a collection of songs requires a simple way to move through the playlist and locate a track.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429000" cy="182880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73152" cy="18288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103120"/>
            <a:ext cx="301752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42032"/>
            <a:ext cx="3017520" cy="10789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Represent each song as a node and connect nodes in both directions using a doubly linked 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920240"/>
            <a:ext cx="3429000" cy="182880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920240"/>
            <a:ext cx="73152" cy="1828800"/>
          </a:xfrm>
          <a:prstGeom prst="rect">
            <a:avLst/>
          </a:prstGeom>
          <a:solidFill>
            <a:srgbClr val="5CD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103120"/>
            <a:ext cx="301752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542032"/>
            <a:ext cx="3017520" cy="10789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Load playlist data from CSV files and provide search, navigation, insertion and deletion.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51960"/>
            <a:ext cx="123444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A6B1C3"/>
                </a:solidFill>
                <a:latin typeface="Aptos"/>
              </a:rPr>
              <a:t>Project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97096"/>
            <a:ext cx="530352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Music Playlist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892040"/>
            <a:ext cx="123444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A6B1C3"/>
                </a:solidFill>
                <a:latin typeface="Aptos"/>
              </a:rPr>
              <a:t>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37176"/>
            <a:ext cx="182880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92040"/>
            <a:ext cx="182880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A6B1C3"/>
                </a:solidFill>
                <a:latin typeface="Aptos"/>
              </a:rPr>
              <a:t>Core data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37176"/>
            <a:ext cx="274320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2000" b="1">
                <a:solidFill>
                  <a:srgbClr val="5B8DEF"/>
                </a:solidFill>
                <a:latin typeface="Aptos"/>
              </a:rPr>
              <a:t>Doubly Linked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A6B1C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5B8DEF"/>
                </a:solidFill>
                <a:latin typeface="Aptos"/>
              </a:rPr>
              <a:t>02 • DATA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Why a Doubly Linked List?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A6B1C3"/>
                </a:solidFill>
                <a:latin typeface="Aptos"/>
              </a:rPr>
              <a:t>Each song stores links to both its previous and next song.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423160"/>
            <a:ext cx="1828800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F7A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41448"/>
            <a:ext cx="1828800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Song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423160"/>
            <a:ext cx="1828800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441448"/>
            <a:ext cx="1828800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Song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423160"/>
            <a:ext cx="1828800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5CD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41448"/>
            <a:ext cx="1828800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Song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423160"/>
            <a:ext cx="1828800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F7A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441448"/>
            <a:ext cx="1828800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Song 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24912" y="2679192"/>
            <a:ext cx="841248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724912" y="2990088"/>
            <a:ext cx="841248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13832" y="2679192"/>
            <a:ext cx="841248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513832" y="2990088"/>
            <a:ext cx="841248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02752" y="2679192"/>
            <a:ext cx="841248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302752" y="2990088"/>
            <a:ext cx="841248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41605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 Forward traversal → Next song</a:t>
            </a:r>
          </a:p>
          <a:p>
            <a:pPr>
              <a:spcAft>
                <a:spcPts val="9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 Backward traversal → Previous song</a:t>
            </a:r>
          </a:p>
          <a:p>
            <a:pPr>
              <a:spcAft>
                <a:spcPts val="9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 Dynamic nodes → Songs can be added or removed</a:t>
            </a:r>
          </a:p>
          <a:p>
            <a:pPr>
              <a:spcAft>
                <a:spcPts val="9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•  Nodes do not need contiguous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A6B1C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5B8DEF"/>
                </a:solidFill>
                <a:latin typeface="Aptos"/>
              </a:rPr>
              <a:t>03 •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A6B1C3"/>
                </a:solidFill>
                <a:latin typeface="Aptos"/>
              </a:rPr>
              <a:t>The project separates input data, linked-list operations and the user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874519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F7A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58568"/>
            <a:ext cx="1874519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CSV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0"/>
            <a:ext cx="1874519" cy="34747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100" b="0">
                <a:solidFill>
                  <a:srgbClr val="A6B1C3"/>
                </a:solidFill>
                <a:latin typeface="Aptos"/>
              </a:rPr>
              <a:t>Playlist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96312" y="2651760"/>
            <a:ext cx="237744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240280"/>
            <a:ext cx="1874519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258568"/>
            <a:ext cx="1874519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CSV 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200400"/>
            <a:ext cx="1874519" cy="34747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100" b="0">
                <a:solidFill>
                  <a:srgbClr val="A6B1C3"/>
                </a:solidFill>
                <a:latin typeface="Aptos"/>
              </a:rPr>
              <a:t>Read records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90872" y="2651760"/>
            <a:ext cx="237744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83480" y="2240280"/>
            <a:ext cx="1874519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5CD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258568"/>
            <a:ext cx="1874519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Doubly Linked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200400"/>
            <a:ext cx="1874519" cy="34747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100" b="0">
                <a:solidFill>
                  <a:srgbClr val="A6B1C3"/>
                </a:solidFill>
                <a:latin typeface="Aptos"/>
              </a:rPr>
              <a:t>Core 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85432" y="2651760"/>
            <a:ext cx="374904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240280"/>
            <a:ext cx="1874519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258568"/>
            <a:ext cx="1874519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200400"/>
            <a:ext cx="1874519" cy="34747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100" b="0">
                <a:solidFill>
                  <a:srgbClr val="A6B1C3"/>
                </a:solidFill>
                <a:latin typeface="Aptos"/>
              </a:rPr>
              <a:t>Search • Add • Delete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17152" y="2651760"/>
            <a:ext cx="374904" cy="0"/>
          </a:xfrm>
          <a:prstGeom prst="line">
            <a:avLst/>
          </a:prstGeom>
          <a:ln w="25400">
            <a:solidFill>
              <a:srgbClr val="A6B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2240280"/>
            <a:ext cx="1874519" cy="822960"/>
          </a:xfrm>
          <a:prstGeom prst="roundRect">
            <a:avLst/>
          </a:prstGeom>
          <a:solidFill>
            <a:srgbClr val="1F2737"/>
          </a:solidFill>
          <a:ln w="19050">
            <a:solidFill>
              <a:srgbClr val="F7A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258568"/>
            <a:ext cx="1874519" cy="786384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Aptos"/>
              </a:rPr>
              <a:t>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200400"/>
            <a:ext cx="1874519" cy="34747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100" b="0">
                <a:solidFill>
                  <a:srgbClr val="A6B1C3"/>
                </a:solidFill>
                <a:latin typeface="Aptos"/>
              </a:rPr>
              <a:t>Next • Previous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4251960"/>
            <a:ext cx="4709160" cy="118872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4251960"/>
            <a:ext cx="73152" cy="1188720"/>
          </a:xfrm>
          <a:prstGeom prst="rect">
            <a:avLst/>
          </a:prstGeom>
          <a:solidFill>
            <a:srgbClr val="F7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434840"/>
            <a:ext cx="429768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873752"/>
            <a:ext cx="4297680" cy="43891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Playlist CSV files provide title, artist and duration information.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51960"/>
            <a:ext cx="4709160" cy="118872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251960"/>
            <a:ext cx="73152" cy="1188720"/>
          </a:xfrm>
          <a:prstGeom prst="rect">
            <a:avLst/>
          </a:prstGeom>
          <a:solidFill>
            <a:srgbClr val="5CD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429768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73752"/>
            <a:ext cx="4297680" cy="43891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A navigable playlist with search and modification operations.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A6B1C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5B8DEF"/>
                </a:solidFill>
                <a:latin typeface="Aptos"/>
              </a:rPr>
              <a:t>04 •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Algorithms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A6B1C3"/>
                </a:solidFill>
                <a:latin typeface="Aptos"/>
              </a:rPr>
              <a:t>Simple operations suited to a linked-list playlist.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303520" cy="123444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123444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9204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Linear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4892040" cy="48463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Traverse from the head node and compare each song title until a match is 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5303520" cy="123444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828800"/>
            <a:ext cx="73152" cy="1234440"/>
          </a:xfrm>
          <a:prstGeom prst="rect">
            <a:avLst/>
          </a:prstGeom>
          <a:solidFill>
            <a:srgbClr val="5CD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011680"/>
            <a:ext cx="489204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Next / Previous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50592"/>
            <a:ext cx="4892040" cy="48463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Move the current pointer through next or prev links; each move is constant-time.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5303520" cy="123444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337560"/>
            <a:ext cx="73152" cy="1234440"/>
          </a:xfrm>
          <a:prstGeom prst="rect">
            <a:avLst/>
          </a:prstGeom>
          <a:solidFill>
            <a:srgbClr val="F7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489204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Insertion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59352"/>
            <a:ext cx="4892040" cy="48463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Create a new node and connect it to the tail of the active playlist.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337560"/>
            <a:ext cx="5303520" cy="123444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337560"/>
            <a:ext cx="73152" cy="1234440"/>
          </a:xfrm>
          <a:prstGeom prst="rect">
            <a:avLst/>
          </a:prstGeom>
          <a:solidFill>
            <a:srgbClr val="E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520440"/>
            <a:ext cx="489204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Deletion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959352"/>
            <a:ext cx="4892040" cy="48463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Reconnect neighboring nodes, then release the removed node from memory.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074920"/>
            <a:ext cx="182880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Why no sorting?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5047488"/>
            <a:ext cx="9052560" cy="5029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A6B1C3"/>
                </a:solidFill>
                <a:latin typeface="Aptos"/>
              </a:rPr>
              <a:t>Sorting is not required for the core playlist-navigation use case; linear search is sufficient for the project.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A6B1C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5B8DEF"/>
                </a:solidFill>
                <a:latin typeface="Aptos"/>
              </a:rPr>
              <a:t>05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A6B1C3"/>
                </a:solidFill>
                <a:latin typeface="Aptos"/>
              </a:rPr>
              <a:t>The project is intentionally contained in a single C source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29000" cy="182880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18288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Song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3017520" cy="10789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title
artist
duration
prev pointer
next pointer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29000" cy="182880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73152" cy="1828800"/>
          </a:xfrm>
          <a:prstGeom prst="rect">
            <a:avLst/>
          </a:prstGeom>
          <a:solidFill>
            <a:srgbClr val="F7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011680"/>
            <a:ext cx="301752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CSV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450592"/>
            <a:ext cx="3017520" cy="10789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Reads playlist records, skips blank rows and ignores invalid NA title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828800"/>
            <a:ext cx="3429000" cy="1828800"/>
          </a:xfrm>
          <a:prstGeom prst="roundRect">
            <a:avLst/>
          </a:prstGeom>
          <a:solidFill>
            <a:srgbClr val="171D2A"/>
          </a:solidFill>
          <a:ln w="12700"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828800"/>
            <a:ext cx="73152" cy="1828800"/>
          </a:xfrm>
          <a:prstGeom prst="rect">
            <a:avLst/>
          </a:prstGeom>
          <a:solidFill>
            <a:srgbClr val="5CD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011680"/>
            <a:ext cx="301752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Aptos"/>
              </a:rP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450592"/>
            <a:ext cx="3017520" cy="1078992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Nodes are allocated dynamically with malloc() and released when the playlist changes or the program exits.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51960"/>
            <a:ext cx="2286000" cy="3200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Core pointer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709160"/>
            <a:ext cx="2514600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727448"/>
            <a:ext cx="251460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current = current-&gt;next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709160"/>
            <a:ext cx="2514600" cy="347472"/>
          </a:xfrm>
          <a:prstGeom prst="roundRect">
            <a:avLst/>
          </a:prstGeom>
          <a:solidFill>
            <a:srgbClr val="5CD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4727448"/>
            <a:ext cx="251460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current = current-&gt;prev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709160"/>
            <a:ext cx="2103120" cy="347472"/>
          </a:xfrm>
          <a:prstGeom prst="roundRect">
            <a:avLst/>
          </a:prstGeom>
          <a:solidFill>
            <a:srgbClr val="F7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4727448"/>
            <a:ext cx="210312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new_node → tail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709160"/>
            <a:ext cx="1508760" cy="347472"/>
          </a:xfrm>
          <a:prstGeom prst="roundRect">
            <a:avLst/>
          </a:prstGeom>
          <a:solidFill>
            <a:srgbClr val="E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4727448"/>
            <a:ext cx="150876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free(node)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A6B1C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5B8DEF"/>
                </a:solidFill>
                <a:latin typeface="Aptos"/>
              </a:rPr>
              <a:t>06 •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User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A6B1C3"/>
                </a:solidFill>
                <a:latin typeface="Aptos"/>
              </a:rPr>
              <a:t>A compact interface designed for a live demonstration.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44200" cy="822960"/>
          </a:xfrm>
          <a:prstGeom prst="roundRect">
            <a:avLst/>
          </a:prstGeom>
          <a:solidFill>
            <a:srgbClr val="171D2A"/>
          </a:solidFill>
          <a:ln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057400"/>
            <a:ext cx="530352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530352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65960"/>
            <a:ext cx="265176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Playlist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965960"/>
            <a:ext cx="6583680" cy="384048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Choose a playlist and switch to the next or previous playlist.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744200" cy="822960"/>
          </a:xfrm>
          <a:prstGeom prst="roundRect">
            <a:avLst/>
          </a:prstGeom>
          <a:solidFill>
            <a:srgbClr val="171D2A"/>
          </a:solidFill>
          <a:ln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3108960"/>
            <a:ext cx="530352" cy="347472"/>
          </a:xfrm>
          <a:prstGeom prst="roundRect">
            <a:avLst/>
          </a:prstGeom>
          <a:solidFill>
            <a:srgbClr val="5CD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127248"/>
            <a:ext cx="530352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017520"/>
            <a:ext cx="265176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Song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017520"/>
            <a:ext cx="6583680" cy="384048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Search by full or partial song title.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44200" cy="822960"/>
          </a:xfrm>
          <a:prstGeom prst="roundRect">
            <a:avLst/>
          </a:prstGeom>
          <a:solidFill>
            <a:srgbClr val="171D2A"/>
          </a:solidFill>
          <a:ln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4160520"/>
            <a:ext cx="530352" cy="347472"/>
          </a:xfrm>
          <a:prstGeom prst="roundRect">
            <a:avLst/>
          </a:prstGeom>
          <a:solidFill>
            <a:srgbClr val="F7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178807"/>
            <a:ext cx="530352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069080"/>
            <a:ext cx="265176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069080"/>
            <a:ext cx="6583680" cy="384048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Move to the next or previous song using linked-list pointers.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83479"/>
            <a:ext cx="10744200" cy="822960"/>
          </a:xfrm>
          <a:prstGeom prst="roundRect">
            <a:avLst/>
          </a:prstGeom>
          <a:solidFill>
            <a:srgbClr val="171D2A"/>
          </a:solidFill>
          <a:ln>
            <a:solidFill>
              <a:srgbClr val="30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5212079"/>
            <a:ext cx="530352" cy="347472"/>
          </a:xfrm>
          <a:prstGeom prst="roundRect">
            <a:avLst/>
          </a:prstGeom>
          <a:solidFill>
            <a:srgbClr val="E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230367"/>
            <a:ext cx="530352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120640"/>
            <a:ext cx="2651760" cy="2743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Playlist Editing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120640"/>
            <a:ext cx="6583680" cy="384048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A6B1C3"/>
                </a:solidFill>
                <a:latin typeface="Aptos"/>
              </a:rPr>
              <a:t>Add a song or delete a matching song from the active 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A6B1C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5B8DEF"/>
                </a:solidFill>
                <a:latin typeface="Aptos"/>
              </a:rPr>
              <a:t>07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A6B1C3"/>
                </a:solidFill>
                <a:latin typeface="Aptos"/>
              </a:rPr>
              <a:t>A focused application demonstrating a real use of the doubly linked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Playlist records are loaded dynamically from CSV files.</a:t>
            </a:r>
          </a:p>
          <a:p>
            <a:pPr>
              <a:spcAft>
                <a:spcPts val="9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Each song is represented as a node in a doubly linked list.</a:t>
            </a:r>
          </a:p>
          <a:p>
            <a:pPr>
              <a:spcAft>
                <a:spcPts val="9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Linear search provides title-based lookup.</a:t>
            </a:r>
          </a:p>
          <a:p>
            <a:pPr>
              <a:spcAft>
                <a:spcPts val="9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Previous / Next navigation directly demonstrates bidirectional links.</a:t>
            </a:r>
          </a:p>
          <a:p>
            <a:pPr>
              <a:spcAft>
                <a:spcPts val="9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Insertion and deletion demonstrate dynamic memory and pointer manipulation.</a:t>
            </a:r>
          </a:p>
          <a:p>
            <a:pPr>
              <a:spcAft>
                <a:spcPts val="900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•  The implementation remains compact and suitable for a small data-structures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15000"/>
            <a:ext cx="2286000" cy="50292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5B8DE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760720"/>
            <a:ext cx="2057400" cy="4114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1800" b="1">
                <a:solidFill>
                  <a:srgbClr val="A6B1C3"/>
                </a:solidFill>
                <a:latin typeface="Aptos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A6B1C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Management System</dc:title>
  <dc:subject>Data Structures Project Presentation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