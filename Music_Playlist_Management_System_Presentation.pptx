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8288000" cy="10287000"/>
  <p:notesSz cx="6858000" cy="9144000"/>
  <p:embeddedFontLst>
    <p:embeddedFont>
      <p:font typeface="Aptos Bold" charset="1" panose="020B0004020202020204"/>
      <p:regular r:id="rId14"/>
    </p:embeddedFont>
    <p:embeddedFont>
      <p:font typeface="Aptos" charset="1" panose="020B0004020202020204"/>
      <p:regular r:id="rId15"/>
    </p:embeddedFont>
    <p:embeddedFont>
      <p:font typeface="Canva Sans Bold" charset="1" panose="020B0803030501040103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png" Type="http://schemas.openxmlformats.org/officeDocument/2006/relationships/image"/><Relationship Id="rId4" Target="../media/image7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0C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205902" cy="10295039"/>
            <a:chOff x="0" y="0"/>
            <a:chExt cx="274536" cy="1372671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7457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74574">
                  <a:moveTo>
                    <a:pt x="0" y="0"/>
                  </a:moveTo>
                  <a:lnTo>
                    <a:pt x="274574" y="0"/>
                  </a:lnTo>
                  <a:lnTo>
                    <a:pt x="27457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5B8DEF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459591" y="767891"/>
            <a:ext cx="2813980" cy="521618"/>
            <a:chOff x="0" y="0"/>
            <a:chExt cx="3751974" cy="69549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751961" cy="695579"/>
            </a:xfrm>
            <a:custGeom>
              <a:avLst/>
              <a:gdLst/>
              <a:ahLst/>
              <a:cxnLst/>
              <a:rect r="r" b="b" t="t" l="l"/>
              <a:pathLst>
                <a:path h="695579" w="3751961">
                  <a:moveTo>
                    <a:pt x="0" y="115951"/>
                  </a:moveTo>
                  <a:cubicBezTo>
                    <a:pt x="0" y="51943"/>
                    <a:pt x="51943" y="0"/>
                    <a:pt x="115951" y="0"/>
                  </a:cubicBezTo>
                  <a:lnTo>
                    <a:pt x="3636010" y="0"/>
                  </a:lnTo>
                  <a:cubicBezTo>
                    <a:pt x="3700018" y="0"/>
                    <a:pt x="3751961" y="51943"/>
                    <a:pt x="3751961" y="115951"/>
                  </a:cubicBezTo>
                  <a:lnTo>
                    <a:pt x="3751961" y="579628"/>
                  </a:lnTo>
                  <a:cubicBezTo>
                    <a:pt x="3751961" y="643636"/>
                    <a:pt x="3700018" y="695579"/>
                    <a:pt x="3636010" y="695579"/>
                  </a:cubicBezTo>
                  <a:lnTo>
                    <a:pt x="115951" y="695579"/>
                  </a:lnTo>
                  <a:cubicBezTo>
                    <a:pt x="51943" y="695452"/>
                    <a:pt x="0" y="643636"/>
                    <a:pt x="0" y="579628"/>
                  </a:cubicBezTo>
                  <a:close/>
                </a:path>
              </a:pathLst>
            </a:custGeom>
            <a:solidFill>
              <a:srgbClr val="5B8DEF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487023" y="804486"/>
            <a:ext cx="2759116" cy="3935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1"/>
              </a:lnSpc>
            </a:pPr>
            <a:r>
              <a:rPr lang="en-US" sz="1501" b="true">
                <a:solidFill>
                  <a:srgbClr val="FFFFFF"/>
                </a:solidFill>
                <a:latin typeface="Aptos Bold"/>
                <a:ea typeface="Aptos Bold"/>
                <a:cs typeface="Aptos Bold"/>
                <a:sym typeface="Aptos Bold"/>
              </a:rPr>
              <a:t>DATA STRUCTURES • C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28700" y="1807310"/>
            <a:ext cx="16230600" cy="11861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407"/>
              </a:lnSpc>
            </a:pPr>
            <a:r>
              <a:rPr lang="en-US" sz="7839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Music Playlist Management System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371929" y="8122662"/>
            <a:ext cx="7544143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22"/>
              </a:lnSpc>
            </a:pPr>
            <a:r>
              <a:rPr lang="en-US" sz="2852">
                <a:solidFill>
                  <a:srgbClr val="A6B1C3"/>
                </a:solidFill>
                <a:latin typeface="Aptos"/>
                <a:ea typeface="Aptos"/>
                <a:cs typeface="Aptos"/>
                <a:sym typeface="Aptos"/>
              </a:rPr>
              <a:t>A practical application of the Doubly Linked List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5448953" y="8713212"/>
            <a:ext cx="7496518" cy="323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 b="true">
                <a:solidFill>
                  <a:srgbClr val="5CD3AA"/>
                </a:solidFill>
                <a:latin typeface="Aptos Bold"/>
                <a:ea typeface="Aptos Bold"/>
                <a:cs typeface="Aptos Bold"/>
                <a:sym typeface="Aptos Bold"/>
              </a:rPr>
              <a:t>Playlist management • Search • Navigation • Dynamic nodes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9145003" y="4816118"/>
            <a:ext cx="2748975" cy="1296460"/>
            <a:chOff x="0" y="0"/>
            <a:chExt cx="2874988" cy="135589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874899" cy="1355852"/>
            </a:xfrm>
            <a:custGeom>
              <a:avLst/>
              <a:gdLst/>
              <a:ahLst/>
              <a:cxnLst/>
              <a:rect r="r" b="b" t="t" l="l"/>
              <a:pathLst>
                <a:path h="1355852" w="2874899">
                  <a:moveTo>
                    <a:pt x="0" y="225933"/>
                  </a:moveTo>
                  <a:cubicBezTo>
                    <a:pt x="0" y="101219"/>
                    <a:pt x="101219" y="0"/>
                    <a:pt x="225933" y="0"/>
                  </a:cubicBezTo>
                  <a:lnTo>
                    <a:pt x="2648966" y="0"/>
                  </a:lnTo>
                  <a:cubicBezTo>
                    <a:pt x="2773807" y="0"/>
                    <a:pt x="2874899" y="101219"/>
                    <a:pt x="2874899" y="225933"/>
                  </a:cubicBezTo>
                  <a:lnTo>
                    <a:pt x="2874899" y="1129919"/>
                  </a:lnTo>
                  <a:cubicBezTo>
                    <a:pt x="2874899" y="1254760"/>
                    <a:pt x="2773680" y="1355852"/>
                    <a:pt x="2648966" y="1355852"/>
                  </a:cubicBezTo>
                  <a:lnTo>
                    <a:pt x="225933" y="1355852"/>
                  </a:lnTo>
                  <a:cubicBezTo>
                    <a:pt x="101219" y="1355852"/>
                    <a:pt x="0" y="1254760"/>
                    <a:pt x="0" y="1129919"/>
                  </a:cubicBezTo>
                  <a:close/>
                </a:path>
              </a:pathLst>
            </a:custGeom>
            <a:solidFill>
              <a:srgbClr val="1F2737"/>
            </a:solidFill>
            <a:ln w="28597" cap="sq">
              <a:solidFill>
                <a:srgbClr val="F7AA4E"/>
              </a:solidFill>
              <a:prstDash val="solid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9197212" y="4904061"/>
            <a:ext cx="2642575" cy="11571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85"/>
              </a:lnSpc>
            </a:pPr>
            <a:r>
              <a:rPr lang="en-US" sz="2487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PREVIOUS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12382529" y="4816118"/>
            <a:ext cx="2748975" cy="1296460"/>
            <a:chOff x="0" y="0"/>
            <a:chExt cx="2874988" cy="135589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874899" cy="1355852"/>
            </a:xfrm>
            <a:custGeom>
              <a:avLst/>
              <a:gdLst/>
              <a:ahLst/>
              <a:cxnLst/>
              <a:rect r="r" b="b" t="t" l="l"/>
              <a:pathLst>
                <a:path h="1355852" w="2874899">
                  <a:moveTo>
                    <a:pt x="0" y="225933"/>
                  </a:moveTo>
                  <a:cubicBezTo>
                    <a:pt x="0" y="101219"/>
                    <a:pt x="101219" y="0"/>
                    <a:pt x="225933" y="0"/>
                  </a:cubicBezTo>
                  <a:lnTo>
                    <a:pt x="2648966" y="0"/>
                  </a:lnTo>
                  <a:cubicBezTo>
                    <a:pt x="2773807" y="0"/>
                    <a:pt x="2874899" y="101219"/>
                    <a:pt x="2874899" y="225933"/>
                  </a:cubicBezTo>
                  <a:lnTo>
                    <a:pt x="2874899" y="1129919"/>
                  </a:lnTo>
                  <a:cubicBezTo>
                    <a:pt x="2874899" y="1254760"/>
                    <a:pt x="2773680" y="1355852"/>
                    <a:pt x="2648966" y="1355852"/>
                  </a:cubicBezTo>
                  <a:lnTo>
                    <a:pt x="225933" y="1355852"/>
                  </a:lnTo>
                  <a:cubicBezTo>
                    <a:pt x="101219" y="1355852"/>
                    <a:pt x="0" y="1254760"/>
                    <a:pt x="0" y="1129919"/>
                  </a:cubicBezTo>
                  <a:close/>
                </a:path>
              </a:pathLst>
            </a:custGeom>
            <a:solidFill>
              <a:srgbClr val="1F2737"/>
            </a:solidFill>
            <a:ln w="28597" cap="sq">
              <a:solidFill>
                <a:srgbClr val="5B8DEF"/>
              </a:solidFill>
              <a:prstDash val="solid"/>
              <a:miter/>
            </a:ln>
          </p:spPr>
        </p:sp>
      </p:grpSp>
      <p:sp>
        <p:nvSpPr>
          <p:cNvPr name="TextBox 15" id="15"/>
          <p:cNvSpPr txBox="true"/>
          <p:nvPr/>
        </p:nvSpPr>
        <p:spPr>
          <a:xfrm rot="0">
            <a:off x="12434726" y="4904061"/>
            <a:ext cx="2642575" cy="11571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85"/>
              </a:lnSpc>
            </a:pPr>
            <a:r>
              <a:rPr lang="en-US" sz="2487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CURRENT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5619040" y="4829654"/>
            <a:ext cx="1786469" cy="1296460"/>
            <a:chOff x="0" y="0"/>
            <a:chExt cx="1868360" cy="135589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868297" cy="1355852"/>
            </a:xfrm>
            <a:custGeom>
              <a:avLst/>
              <a:gdLst/>
              <a:ahLst/>
              <a:cxnLst/>
              <a:rect r="r" b="b" t="t" l="l"/>
              <a:pathLst>
                <a:path h="1355852" w="1868297">
                  <a:moveTo>
                    <a:pt x="0" y="225933"/>
                  </a:moveTo>
                  <a:cubicBezTo>
                    <a:pt x="0" y="101219"/>
                    <a:pt x="101219" y="0"/>
                    <a:pt x="225933" y="0"/>
                  </a:cubicBezTo>
                  <a:lnTo>
                    <a:pt x="1642364" y="0"/>
                  </a:lnTo>
                  <a:cubicBezTo>
                    <a:pt x="1767205" y="0"/>
                    <a:pt x="1868297" y="101219"/>
                    <a:pt x="1868297" y="225933"/>
                  </a:cubicBezTo>
                  <a:lnTo>
                    <a:pt x="1868297" y="1129919"/>
                  </a:lnTo>
                  <a:cubicBezTo>
                    <a:pt x="1868297" y="1254760"/>
                    <a:pt x="1767078" y="1355852"/>
                    <a:pt x="1642364" y="1355852"/>
                  </a:cubicBezTo>
                  <a:lnTo>
                    <a:pt x="225933" y="1355852"/>
                  </a:lnTo>
                  <a:cubicBezTo>
                    <a:pt x="101219" y="1355852"/>
                    <a:pt x="0" y="1254760"/>
                    <a:pt x="0" y="1129919"/>
                  </a:cubicBezTo>
                  <a:close/>
                </a:path>
              </a:pathLst>
            </a:custGeom>
            <a:solidFill>
              <a:srgbClr val="1F2737"/>
            </a:solidFill>
            <a:ln w="28597" cap="sq">
              <a:solidFill>
                <a:srgbClr val="5CD3AA"/>
              </a:solidFill>
              <a:prstDash val="solid"/>
              <a:miter/>
            </a:ln>
          </p:spPr>
        </p:sp>
      </p:grpSp>
      <p:sp>
        <p:nvSpPr>
          <p:cNvPr name="TextBox 18" id="18"/>
          <p:cNvSpPr txBox="true"/>
          <p:nvPr/>
        </p:nvSpPr>
        <p:spPr>
          <a:xfrm rot="0">
            <a:off x="15672240" y="4904061"/>
            <a:ext cx="1680069" cy="11571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85"/>
              </a:lnSpc>
            </a:pPr>
            <a:r>
              <a:rPr lang="en-US" sz="2487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NEXT</a:t>
            </a:r>
          </a:p>
        </p:txBody>
      </p:sp>
      <p:sp>
        <p:nvSpPr>
          <p:cNvPr name="AutoShape 19" id="19"/>
          <p:cNvSpPr/>
          <p:nvPr/>
        </p:nvSpPr>
        <p:spPr>
          <a:xfrm>
            <a:off x="11893893" y="5299301"/>
            <a:ext cx="488636" cy="165047"/>
          </a:xfrm>
          <a:prstGeom prst="line">
            <a:avLst/>
          </a:prstGeom>
          <a:ln cap="rnd" w="28575">
            <a:solidFill>
              <a:srgbClr val="A6B1C3"/>
            </a:solidFill>
            <a:prstDash val="solid"/>
            <a:headEnd type="triangle" len="med" w="lg"/>
            <a:tailEnd type="triangle" len="med" w="lg"/>
          </a:ln>
        </p:spPr>
      </p:sp>
      <p:sp>
        <p:nvSpPr>
          <p:cNvPr name="AutoShape 20" id="20"/>
          <p:cNvSpPr/>
          <p:nvPr/>
        </p:nvSpPr>
        <p:spPr>
          <a:xfrm>
            <a:off x="15131419" y="5299301"/>
            <a:ext cx="487621" cy="178583"/>
          </a:xfrm>
          <a:prstGeom prst="line">
            <a:avLst/>
          </a:prstGeom>
          <a:ln cap="rnd" w="28575">
            <a:solidFill>
              <a:srgbClr val="A6B1C3"/>
            </a:solidFill>
            <a:prstDash val="solid"/>
            <a:headEnd type="triangle" len="med" w="lg"/>
            <a:tailEnd type="triangle" len="med" w="lg"/>
          </a:ln>
        </p:spPr>
      </p:sp>
      <p:sp>
        <p:nvSpPr>
          <p:cNvPr name="TextBox 21" id="21"/>
          <p:cNvSpPr txBox="true"/>
          <p:nvPr/>
        </p:nvSpPr>
        <p:spPr>
          <a:xfrm rot="0">
            <a:off x="9984708" y="6706571"/>
            <a:ext cx="6055087" cy="4921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85"/>
              </a:lnSpc>
            </a:pPr>
            <a:r>
              <a:rPr lang="en-US" sz="2487">
                <a:solidFill>
                  <a:srgbClr val="A6B1C3"/>
                </a:solidFill>
                <a:latin typeface="Aptos"/>
                <a:ea typeface="Aptos"/>
                <a:cs typeface="Aptos"/>
                <a:sym typeface="Aptos"/>
              </a:rPr>
              <a:t>prev  ←  current  →  next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6842667" y="9718138"/>
            <a:ext cx="562842" cy="2657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1"/>
              </a:lnSpc>
            </a:pPr>
            <a:r>
              <a:rPr lang="en-US" sz="1351" b="true">
                <a:solidFill>
                  <a:srgbClr val="A6B1C3"/>
                </a:solidFill>
                <a:latin typeface="Aptos Bold"/>
                <a:ea typeface="Aptos Bold"/>
                <a:cs typeface="Aptos Bold"/>
                <a:sym typeface="Aptos Bold"/>
              </a:rPr>
              <a:t>01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028700" y="3885803"/>
            <a:ext cx="4408155" cy="5220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40"/>
              </a:lnSpc>
              <a:spcBef>
                <a:spcPct val="0"/>
              </a:spcBef>
            </a:pPr>
            <a:r>
              <a:rPr lang="en-US" b="true" sz="3450">
                <a:solidFill>
                  <a:srgbClr val="FFFFFF"/>
                </a:solidFill>
                <a:latin typeface="Aptos Bold"/>
                <a:ea typeface="Aptos Bold"/>
                <a:cs typeface="Aptos Bold"/>
                <a:sym typeface="Aptos Bold"/>
              </a:rPr>
              <a:t>Name: Vedant Belsare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034275" y="4732491"/>
            <a:ext cx="3420099" cy="5220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40"/>
              </a:lnSpc>
              <a:spcBef>
                <a:spcPct val="0"/>
              </a:spcBef>
            </a:pPr>
            <a:r>
              <a:rPr lang="en-US" b="true" sz="3450">
                <a:solidFill>
                  <a:srgbClr val="FFFFFF"/>
                </a:solidFill>
                <a:latin typeface="Aptos Bold"/>
                <a:ea typeface="Aptos Bold"/>
                <a:cs typeface="Aptos Bold"/>
                <a:sym typeface="Aptos Bold"/>
              </a:rPr>
              <a:t>PRN: 1262252826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034275" y="5579179"/>
            <a:ext cx="6219663" cy="5220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40"/>
              </a:lnSpc>
              <a:spcBef>
                <a:spcPct val="0"/>
              </a:spcBef>
            </a:pPr>
            <a:r>
              <a:rPr lang="en-US" b="true" sz="3450">
                <a:solidFill>
                  <a:srgbClr val="FFFFFF"/>
                </a:solidFill>
                <a:latin typeface="Aptos Bold"/>
                <a:ea typeface="Aptos Bold"/>
                <a:cs typeface="Aptos Bold"/>
                <a:sym typeface="Aptos Bold"/>
              </a:rPr>
              <a:t>Div: SY B.Tech CSE CSF Panel A 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034275" y="6425867"/>
            <a:ext cx="1971234" cy="5220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40"/>
              </a:lnSpc>
              <a:spcBef>
                <a:spcPct val="0"/>
              </a:spcBef>
            </a:pPr>
            <a:r>
              <a:rPr lang="en-US" b="true" sz="3450">
                <a:solidFill>
                  <a:srgbClr val="FFFFFF"/>
                </a:solidFill>
                <a:latin typeface="Aptos Bold"/>
                <a:ea typeface="Aptos Bold"/>
                <a:cs typeface="Aptos Bold"/>
                <a:sym typeface="Aptos Bold"/>
              </a:rPr>
              <a:t>Batch: A2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0C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01079" y="1028700"/>
            <a:ext cx="5435822" cy="3248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5B8DEF"/>
                </a:solidFill>
                <a:latin typeface="Aptos Bold"/>
                <a:ea typeface="Aptos Bold"/>
                <a:cs typeface="Aptos Bold"/>
                <a:sym typeface="Aptos Bold"/>
              </a:rPr>
              <a:t>01 • OVERVIEW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01079" y="1618955"/>
            <a:ext cx="16417204" cy="805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4"/>
              </a:lnSpc>
            </a:pPr>
            <a:r>
              <a:rPr lang="en-US" sz="4503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Project Overview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928530" y="2487940"/>
            <a:ext cx="16142675" cy="6089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A6B1C3"/>
                </a:solidFill>
                <a:latin typeface="Aptos"/>
                <a:ea typeface="Aptos"/>
                <a:cs typeface="Aptos"/>
                <a:sym typeface="Aptos"/>
              </a:rPr>
              <a:t>A focused data-structures application built around playlist navigation.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932750" y="3412207"/>
            <a:ext cx="5166589" cy="2764412"/>
            <a:chOff x="0" y="0"/>
            <a:chExt cx="6888785" cy="368588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888734" cy="3685794"/>
            </a:xfrm>
            <a:custGeom>
              <a:avLst/>
              <a:gdLst/>
              <a:ahLst/>
              <a:cxnLst/>
              <a:rect r="r" b="b" t="t" l="l"/>
              <a:pathLst>
                <a:path h="3685794" w="6888734">
                  <a:moveTo>
                    <a:pt x="0" y="614299"/>
                  </a:moveTo>
                  <a:cubicBezTo>
                    <a:pt x="0" y="275082"/>
                    <a:pt x="275082" y="0"/>
                    <a:pt x="614299" y="0"/>
                  </a:cubicBezTo>
                  <a:lnTo>
                    <a:pt x="6274435" y="0"/>
                  </a:lnTo>
                  <a:cubicBezTo>
                    <a:pt x="6613778" y="0"/>
                    <a:pt x="6888734" y="275082"/>
                    <a:pt x="6888734" y="614299"/>
                  </a:cubicBezTo>
                  <a:lnTo>
                    <a:pt x="6888734" y="3071495"/>
                  </a:lnTo>
                  <a:cubicBezTo>
                    <a:pt x="6888734" y="3410839"/>
                    <a:pt x="6613652" y="3685794"/>
                    <a:pt x="6274435" y="3685794"/>
                  </a:cubicBezTo>
                  <a:lnTo>
                    <a:pt x="614299" y="3685794"/>
                  </a:lnTo>
                  <a:cubicBezTo>
                    <a:pt x="275082" y="3685921"/>
                    <a:pt x="0" y="3410839"/>
                    <a:pt x="0" y="3071495"/>
                  </a:cubicBezTo>
                  <a:close/>
                </a:path>
              </a:pathLst>
            </a:custGeom>
            <a:solidFill>
              <a:srgbClr val="171D2A"/>
            </a:solidFill>
            <a:ln w="19065" cap="sq">
              <a:solidFill>
                <a:srgbClr val="303A4E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942284" y="3421732"/>
            <a:ext cx="109814" cy="2745343"/>
            <a:chOff x="0" y="0"/>
            <a:chExt cx="146418" cy="366045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46431" cy="3660521"/>
            </a:xfrm>
            <a:custGeom>
              <a:avLst/>
              <a:gdLst/>
              <a:ahLst/>
              <a:cxnLst/>
              <a:rect r="r" b="b" t="t" l="l"/>
              <a:pathLst>
                <a:path h="3660521" w="146431">
                  <a:moveTo>
                    <a:pt x="0" y="0"/>
                  </a:moveTo>
                  <a:lnTo>
                    <a:pt x="146431" y="0"/>
                  </a:lnTo>
                  <a:lnTo>
                    <a:pt x="146431" y="3660521"/>
                  </a:lnTo>
                  <a:lnTo>
                    <a:pt x="0" y="3660521"/>
                  </a:lnTo>
                  <a:close/>
                </a:path>
              </a:pathLst>
            </a:custGeom>
            <a:solidFill>
              <a:srgbClr val="F7AA4E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1312883" y="3705416"/>
            <a:ext cx="4474959" cy="4621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2551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Problem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312883" y="4364298"/>
            <a:ext cx="4474959" cy="1601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>
                <a:solidFill>
                  <a:srgbClr val="A6B1C3"/>
                </a:solidFill>
                <a:latin typeface="Aptos"/>
                <a:ea typeface="Aptos"/>
                <a:cs typeface="Aptos"/>
                <a:sym typeface="Aptos"/>
              </a:rPr>
              <a:t>Managing a collection of songs requires a simple way to move through the playlist and locate a track.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6533250" y="3412207"/>
            <a:ext cx="5166589" cy="2764412"/>
            <a:chOff x="0" y="0"/>
            <a:chExt cx="6888785" cy="3685883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888734" cy="3685794"/>
            </a:xfrm>
            <a:custGeom>
              <a:avLst/>
              <a:gdLst/>
              <a:ahLst/>
              <a:cxnLst/>
              <a:rect r="r" b="b" t="t" l="l"/>
              <a:pathLst>
                <a:path h="3685794" w="6888734">
                  <a:moveTo>
                    <a:pt x="0" y="614299"/>
                  </a:moveTo>
                  <a:cubicBezTo>
                    <a:pt x="0" y="275082"/>
                    <a:pt x="275082" y="0"/>
                    <a:pt x="614299" y="0"/>
                  </a:cubicBezTo>
                  <a:lnTo>
                    <a:pt x="6274435" y="0"/>
                  </a:lnTo>
                  <a:cubicBezTo>
                    <a:pt x="6613778" y="0"/>
                    <a:pt x="6888734" y="275082"/>
                    <a:pt x="6888734" y="614299"/>
                  </a:cubicBezTo>
                  <a:lnTo>
                    <a:pt x="6888734" y="3071495"/>
                  </a:lnTo>
                  <a:cubicBezTo>
                    <a:pt x="6888734" y="3410839"/>
                    <a:pt x="6613652" y="3685794"/>
                    <a:pt x="6274435" y="3685794"/>
                  </a:cubicBezTo>
                  <a:lnTo>
                    <a:pt x="614299" y="3685794"/>
                  </a:lnTo>
                  <a:cubicBezTo>
                    <a:pt x="275082" y="3685921"/>
                    <a:pt x="0" y="3410839"/>
                    <a:pt x="0" y="3071495"/>
                  </a:cubicBezTo>
                  <a:close/>
                </a:path>
              </a:pathLst>
            </a:custGeom>
            <a:solidFill>
              <a:srgbClr val="171D2A"/>
            </a:solidFill>
            <a:ln w="19065" cap="sq">
              <a:solidFill>
                <a:srgbClr val="303A4E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6542784" y="3421732"/>
            <a:ext cx="109814" cy="2745343"/>
            <a:chOff x="0" y="0"/>
            <a:chExt cx="146418" cy="3660458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46431" cy="3660521"/>
            </a:xfrm>
            <a:custGeom>
              <a:avLst/>
              <a:gdLst/>
              <a:ahLst/>
              <a:cxnLst/>
              <a:rect r="r" b="b" t="t" l="l"/>
              <a:pathLst>
                <a:path h="3660521" w="146431">
                  <a:moveTo>
                    <a:pt x="0" y="0"/>
                  </a:moveTo>
                  <a:lnTo>
                    <a:pt x="146431" y="0"/>
                  </a:lnTo>
                  <a:lnTo>
                    <a:pt x="146431" y="3660521"/>
                  </a:lnTo>
                  <a:lnTo>
                    <a:pt x="0" y="3660521"/>
                  </a:lnTo>
                  <a:close/>
                </a:path>
              </a:pathLst>
            </a:custGeom>
            <a:solidFill>
              <a:srgbClr val="5B8DEF"/>
            </a:solid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6913383" y="3705416"/>
            <a:ext cx="4474959" cy="4621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2551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Approach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913383" y="4364298"/>
            <a:ext cx="4474959" cy="1601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>
                <a:solidFill>
                  <a:srgbClr val="A6B1C3"/>
                </a:solidFill>
                <a:latin typeface="Aptos"/>
                <a:ea typeface="Aptos"/>
                <a:cs typeface="Aptos"/>
                <a:sym typeface="Aptos"/>
              </a:rPr>
              <a:t>Represent each song as a node and connect nodes in both directions using a doubly linked list.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2133759" y="3412207"/>
            <a:ext cx="5166589" cy="2764412"/>
            <a:chOff x="0" y="0"/>
            <a:chExt cx="6888785" cy="3685883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888734" cy="3685794"/>
            </a:xfrm>
            <a:custGeom>
              <a:avLst/>
              <a:gdLst/>
              <a:ahLst/>
              <a:cxnLst/>
              <a:rect r="r" b="b" t="t" l="l"/>
              <a:pathLst>
                <a:path h="3685794" w="6888734">
                  <a:moveTo>
                    <a:pt x="0" y="614299"/>
                  </a:moveTo>
                  <a:cubicBezTo>
                    <a:pt x="0" y="275082"/>
                    <a:pt x="275082" y="0"/>
                    <a:pt x="614299" y="0"/>
                  </a:cubicBezTo>
                  <a:lnTo>
                    <a:pt x="6274435" y="0"/>
                  </a:lnTo>
                  <a:cubicBezTo>
                    <a:pt x="6613778" y="0"/>
                    <a:pt x="6888734" y="275082"/>
                    <a:pt x="6888734" y="614299"/>
                  </a:cubicBezTo>
                  <a:lnTo>
                    <a:pt x="6888734" y="3071495"/>
                  </a:lnTo>
                  <a:cubicBezTo>
                    <a:pt x="6888734" y="3410839"/>
                    <a:pt x="6613652" y="3685794"/>
                    <a:pt x="6274435" y="3685794"/>
                  </a:cubicBezTo>
                  <a:lnTo>
                    <a:pt x="614299" y="3685794"/>
                  </a:lnTo>
                  <a:cubicBezTo>
                    <a:pt x="275082" y="3685921"/>
                    <a:pt x="0" y="3410839"/>
                    <a:pt x="0" y="3071495"/>
                  </a:cubicBezTo>
                  <a:close/>
                </a:path>
              </a:pathLst>
            </a:custGeom>
            <a:solidFill>
              <a:srgbClr val="171D2A"/>
            </a:solidFill>
            <a:ln w="19065" cap="sq">
              <a:solidFill>
                <a:srgbClr val="303A4E"/>
              </a:solidFill>
              <a:prstDash val="solid"/>
              <a:miter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12143284" y="3421732"/>
            <a:ext cx="109814" cy="2745343"/>
            <a:chOff x="0" y="0"/>
            <a:chExt cx="146418" cy="3660458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46431" cy="3660521"/>
            </a:xfrm>
            <a:custGeom>
              <a:avLst/>
              <a:gdLst/>
              <a:ahLst/>
              <a:cxnLst/>
              <a:rect r="r" b="b" t="t" l="l"/>
              <a:pathLst>
                <a:path h="3660521" w="146431">
                  <a:moveTo>
                    <a:pt x="0" y="0"/>
                  </a:moveTo>
                  <a:lnTo>
                    <a:pt x="146431" y="0"/>
                  </a:lnTo>
                  <a:lnTo>
                    <a:pt x="146431" y="3660521"/>
                  </a:lnTo>
                  <a:lnTo>
                    <a:pt x="0" y="3660521"/>
                  </a:lnTo>
                  <a:close/>
                </a:path>
              </a:pathLst>
            </a:custGeom>
            <a:solidFill>
              <a:srgbClr val="5CD3AA"/>
            </a:solid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12513893" y="3705416"/>
            <a:ext cx="4474959" cy="4621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2551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Application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2513893" y="4364298"/>
            <a:ext cx="4474959" cy="1601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>
                <a:solidFill>
                  <a:srgbClr val="A6B1C3"/>
                </a:solidFill>
                <a:latin typeface="Aptos"/>
                <a:ea typeface="Aptos"/>
                <a:cs typeface="Aptos"/>
                <a:sym typeface="Aptos"/>
              </a:rPr>
              <a:t>Load playlist data from CSV files and provide search, navigation, insertion and deletion.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42284" y="6848837"/>
            <a:ext cx="2278610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A6B1C3"/>
                </a:solidFill>
                <a:latin typeface="Aptos Bold"/>
                <a:ea typeface="Aptos Bold"/>
                <a:cs typeface="Aptos Bold"/>
                <a:sym typeface="Aptos Bold"/>
              </a:rPr>
              <a:t>Project title: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220894" y="6848837"/>
            <a:ext cx="6232014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2"/>
              </a:lnSpc>
            </a:pPr>
            <a:r>
              <a:rPr lang="en-US" sz="3002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Music Playlist Management System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01079" y="7809709"/>
            <a:ext cx="1798244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A6B1C3"/>
                </a:solidFill>
                <a:latin typeface="Aptos Bold"/>
                <a:ea typeface="Aptos Bold"/>
                <a:cs typeface="Aptos Bold"/>
                <a:sym typeface="Aptos Bold"/>
              </a:rPr>
              <a:t>Language: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2754187" y="7809709"/>
            <a:ext cx="2690479" cy="5994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2"/>
              </a:lnSpc>
            </a:pPr>
            <a:r>
              <a:rPr lang="en-US" sz="3002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C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5787842" y="7809709"/>
            <a:ext cx="3514180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true">
                <a:solidFill>
                  <a:srgbClr val="A6B1C3"/>
                </a:solidFill>
                <a:latin typeface="Aptos Bold"/>
                <a:ea typeface="Aptos Bold"/>
                <a:cs typeface="Aptos Bold"/>
                <a:sym typeface="Aptos Bold"/>
              </a:rPr>
              <a:t>Core data structure: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9617550" y="7809709"/>
            <a:ext cx="3202845" cy="45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02"/>
              </a:lnSpc>
            </a:pPr>
            <a:r>
              <a:rPr lang="en-US" sz="3002" b="true">
                <a:solidFill>
                  <a:srgbClr val="5B8DEF"/>
                </a:solidFill>
                <a:latin typeface="Aptos Bold"/>
                <a:ea typeface="Aptos Bold"/>
                <a:cs typeface="Aptos Bold"/>
                <a:sym typeface="Aptos Bold"/>
              </a:rPr>
              <a:t>Doubly Linked List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6824079" y="10257263"/>
            <a:ext cx="562842" cy="2657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1"/>
              </a:lnSpc>
            </a:pPr>
            <a:r>
              <a:rPr lang="en-US" sz="1351" b="true">
                <a:solidFill>
                  <a:srgbClr val="A6B1C3"/>
                </a:solidFill>
                <a:latin typeface="Aptos Bold"/>
                <a:ea typeface="Aptos Bold"/>
                <a:cs typeface="Aptos Bold"/>
                <a:sym typeface="Aptos Bold"/>
              </a:rPr>
              <a:t>02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6977879" y="9693198"/>
            <a:ext cx="562842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1"/>
              </a:lnSpc>
            </a:pPr>
            <a:r>
              <a:rPr lang="en-US" sz="1351" b="true">
                <a:solidFill>
                  <a:srgbClr val="A6B1C3"/>
                </a:solidFill>
                <a:latin typeface="Aptos Bold"/>
                <a:ea typeface="Aptos Bold"/>
                <a:cs typeface="Aptos Bold"/>
                <a:sym typeface="Aptos Bol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0C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028700"/>
            <a:ext cx="2021128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5B8DEF"/>
                </a:solidFill>
                <a:latin typeface="Aptos Bold"/>
                <a:ea typeface="Aptos Bold"/>
                <a:cs typeface="Aptos Bold"/>
                <a:sym typeface="Aptos Bold"/>
              </a:rPr>
              <a:t>02 • DATA STRUCTURE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8700" y="1618955"/>
            <a:ext cx="6948147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4"/>
              </a:lnSpc>
            </a:pPr>
            <a:r>
              <a:rPr lang="en-US" sz="4503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Why a Doubly Linked List?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56151" y="2487940"/>
            <a:ext cx="6701883" cy="323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A6B1C3"/>
                </a:solidFill>
                <a:latin typeface="Aptos"/>
                <a:ea typeface="Aptos"/>
                <a:cs typeface="Aptos"/>
                <a:sym typeface="Aptos"/>
              </a:rPr>
              <a:t>Each song stores links to both its previous and next song.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3492209" y="3619766"/>
            <a:ext cx="2021128" cy="996264"/>
            <a:chOff x="0" y="0"/>
            <a:chExt cx="2694838" cy="1328352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0" y="0"/>
              <a:ext cx="2694838" cy="1328352"/>
              <a:chOff x="0" y="0"/>
              <a:chExt cx="3419065" cy="1685341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3419090" cy="1685417"/>
              </a:xfrm>
              <a:custGeom>
                <a:avLst/>
                <a:gdLst/>
                <a:ahLst/>
                <a:cxnLst/>
                <a:rect r="r" b="b" t="t" l="l"/>
                <a:pathLst>
                  <a:path h="1685417" w="3419090">
                    <a:moveTo>
                      <a:pt x="0" y="280924"/>
                    </a:moveTo>
                    <a:cubicBezTo>
                      <a:pt x="0" y="125730"/>
                      <a:pt x="116228" y="0"/>
                      <a:pt x="259692" y="0"/>
                    </a:cubicBezTo>
                    <a:lnTo>
                      <a:pt x="3159395" y="0"/>
                    </a:lnTo>
                    <a:cubicBezTo>
                      <a:pt x="3302860" y="0"/>
                      <a:pt x="3419090" y="125730"/>
                      <a:pt x="3419090" y="280924"/>
                    </a:cubicBezTo>
                    <a:lnTo>
                      <a:pt x="3419090" y="1404493"/>
                    </a:lnTo>
                    <a:cubicBezTo>
                      <a:pt x="3419090" y="1559687"/>
                      <a:pt x="3302860" y="1685417"/>
                      <a:pt x="3159395" y="1685417"/>
                    </a:cubicBezTo>
                    <a:lnTo>
                      <a:pt x="259692" y="1685417"/>
                    </a:lnTo>
                    <a:cubicBezTo>
                      <a:pt x="116228" y="1685290"/>
                      <a:pt x="0" y="1559560"/>
                      <a:pt x="0" y="1404493"/>
                    </a:cubicBezTo>
                    <a:close/>
                  </a:path>
                </a:pathLst>
              </a:custGeom>
              <a:solidFill>
                <a:srgbClr val="1F2737"/>
              </a:solidFill>
              <a:ln w="28597" cap="sq">
                <a:solidFill>
                  <a:srgbClr val="F7AA4E"/>
                </a:solidFill>
                <a:prstDash val="solid"/>
                <a:miter/>
              </a:ln>
            </p:spPr>
          </p:sp>
        </p:grpSp>
        <p:sp>
          <p:nvSpPr>
            <p:cNvPr name="TextBox 8" id="8"/>
            <p:cNvSpPr txBox="true"/>
            <p:nvPr/>
          </p:nvSpPr>
          <p:spPr>
            <a:xfrm rot="0">
              <a:off x="867643" y="511578"/>
              <a:ext cx="1076507" cy="38037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69"/>
                </a:lnSpc>
              </a:pPr>
              <a:r>
                <a:rPr lang="en-US" sz="1891" b="true">
                  <a:solidFill>
                    <a:srgbClr val="F1F5F9"/>
                  </a:solidFill>
                  <a:latin typeface="Aptos Bold"/>
                  <a:ea typeface="Aptos Bold"/>
                  <a:cs typeface="Aptos Bold"/>
                  <a:sym typeface="Aptos Bold"/>
                </a:rPr>
                <a:t>Song A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5736906" y="4645368"/>
            <a:ext cx="2021128" cy="996264"/>
            <a:chOff x="0" y="0"/>
            <a:chExt cx="2694838" cy="1328352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0" y="0"/>
              <a:ext cx="2694838" cy="1328352"/>
              <a:chOff x="0" y="0"/>
              <a:chExt cx="3419065" cy="1685341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3419090" cy="1685417"/>
              </a:xfrm>
              <a:custGeom>
                <a:avLst/>
                <a:gdLst/>
                <a:ahLst/>
                <a:cxnLst/>
                <a:rect r="r" b="b" t="t" l="l"/>
                <a:pathLst>
                  <a:path h="1685417" w="3419090">
                    <a:moveTo>
                      <a:pt x="0" y="280924"/>
                    </a:moveTo>
                    <a:cubicBezTo>
                      <a:pt x="0" y="125730"/>
                      <a:pt x="116228" y="0"/>
                      <a:pt x="259692" y="0"/>
                    </a:cubicBezTo>
                    <a:lnTo>
                      <a:pt x="3159395" y="0"/>
                    </a:lnTo>
                    <a:cubicBezTo>
                      <a:pt x="3302860" y="0"/>
                      <a:pt x="3419090" y="125730"/>
                      <a:pt x="3419090" y="280924"/>
                    </a:cubicBezTo>
                    <a:lnTo>
                      <a:pt x="3419090" y="1404493"/>
                    </a:lnTo>
                    <a:cubicBezTo>
                      <a:pt x="3419090" y="1559687"/>
                      <a:pt x="3302860" y="1685417"/>
                      <a:pt x="3159395" y="1685417"/>
                    </a:cubicBezTo>
                    <a:lnTo>
                      <a:pt x="259692" y="1685417"/>
                    </a:lnTo>
                    <a:cubicBezTo>
                      <a:pt x="116228" y="1685290"/>
                      <a:pt x="0" y="1559560"/>
                      <a:pt x="0" y="1404493"/>
                    </a:cubicBezTo>
                    <a:close/>
                  </a:path>
                </a:pathLst>
              </a:custGeom>
              <a:solidFill>
                <a:srgbClr val="1F2737"/>
              </a:solidFill>
              <a:ln w="28597" cap="sq">
                <a:solidFill>
                  <a:srgbClr val="5B8DEF"/>
                </a:solidFill>
                <a:prstDash val="solid"/>
                <a:miter/>
              </a:ln>
            </p:spPr>
          </p:sp>
        </p:grpSp>
        <p:sp>
          <p:nvSpPr>
            <p:cNvPr name="TextBox 12" id="12"/>
            <p:cNvSpPr txBox="true"/>
            <p:nvPr/>
          </p:nvSpPr>
          <p:spPr>
            <a:xfrm rot="0">
              <a:off x="759348" y="511578"/>
              <a:ext cx="1176141" cy="38037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69"/>
                </a:lnSpc>
              </a:pPr>
              <a:r>
                <a:rPr lang="en-US" sz="1891" b="true">
                  <a:solidFill>
                    <a:srgbClr val="F1F5F9"/>
                  </a:solidFill>
                  <a:latin typeface="Aptos Bold"/>
                  <a:ea typeface="Aptos Bold"/>
                  <a:cs typeface="Aptos Bold"/>
                  <a:sym typeface="Aptos Bold"/>
                </a:rPr>
                <a:t>Song B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3492209" y="5814340"/>
            <a:ext cx="2021128" cy="996264"/>
            <a:chOff x="0" y="0"/>
            <a:chExt cx="2694838" cy="1328352"/>
          </a:xfrm>
        </p:grpSpPr>
        <p:grpSp>
          <p:nvGrpSpPr>
            <p:cNvPr name="Group 14" id="14"/>
            <p:cNvGrpSpPr/>
            <p:nvPr/>
          </p:nvGrpSpPr>
          <p:grpSpPr>
            <a:xfrm rot="0">
              <a:off x="0" y="0"/>
              <a:ext cx="2694838" cy="1328352"/>
              <a:chOff x="0" y="0"/>
              <a:chExt cx="3419065" cy="1685341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3419090" cy="1685417"/>
              </a:xfrm>
              <a:custGeom>
                <a:avLst/>
                <a:gdLst/>
                <a:ahLst/>
                <a:cxnLst/>
                <a:rect r="r" b="b" t="t" l="l"/>
                <a:pathLst>
                  <a:path h="1685417" w="3419090">
                    <a:moveTo>
                      <a:pt x="0" y="280924"/>
                    </a:moveTo>
                    <a:cubicBezTo>
                      <a:pt x="0" y="125730"/>
                      <a:pt x="116228" y="0"/>
                      <a:pt x="259692" y="0"/>
                    </a:cubicBezTo>
                    <a:lnTo>
                      <a:pt x="3159395" y="0"/>
                    </a:lnTo>
                    <a:cubicBezTo>
                      <a:pt x="3302860" y="0"/>
                      <a:pt x="3419090" y="125730"/>
                      <a:pt x="3419090" y="280924"/>
                    </a:cubicBezTo>
                    <a:lnTo>
                      <a:pt x="3419090" y="1404493"/>
                    </a:lnTo>
                    <a:cubicBezTo>
                      <a:pt x="3419090" y="1559687"/>
                      <a:pt x="3302860" y="1685417"/>
                      <a:pt x="3159395" y="1685417"/>
                    </a:cubicBezTo>
                    <a:lnTo>
                      <a:pt x="259692" y="1685417"/>
                    </a:lnTo>
                    <a:cubicBezTo>
                      <a:pt x="116228" y="1685290"/>
                      <a:pt x="0" y="1559560"/>
                      <a:pt x="0" y="1404493"/>
                    </a:cubicBezTo>
                    <a:close/>
                  </a:path>
                </a:pathLst>
              </a:custGeom>
              <a:solidFill>
                <a:srgbClr val="1F2737"/>
              </a:solidFill>
              <a:ln w="28597" cap="sq">
                <a:solidFill>
                  <a:srgbClr val="5CD3AA"/>
                </a:solidFill>
                <a:prstDash val="solid"/>
                <a:miter/>
              </a:ln>
            </p:spPr>
          </p:sp>
        </p:grpSp>
        <p:sp>
          <p:nvSpPr>
            <p:cNvPr name="TextBox 16" id="16"/>
            <p:cNvSpPr txBox="true"/>
            <p:nvPr/>
          </p:nvSpPr>
          <p:spPr>
            <a:xfrm rot="0">
              <a:off x="745469" y="511578"/>
              <a:ext cx="1203900" cy="38037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69"/>
                </a:lnSpc>
              </a:pPr>
              <a:r>
                <a:rPr lang="en-US" sz="1891" b="true">
                  <a:solidFill>
                    <a:srgbClr val="F1F5F9"/>
                  </a:solidFill>
                  <a:latin typeface="Aptos Bold"/>
                  <a:ea typeface="Aptos Bold"/>
                  <a:cs typeface="Aptos Bold"/>
                  <a:sym typeface="Aptos Bold"/>
                </a:rPr>
                <a:t>Song C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028700" y="4645368"/>
            <a:ext cx="2021128" cy="996264"/>
            <a:chOff x="0" y="0"/>
            <a:chExt cx="2694838" cy="1328352"/>
          </a:xfrm>
        </p:grpSpPr>
        <p:grpSp>
          <p:nvGrpSpPr>
            <p:cNvPr name="Group 18" id="18"/>
            <p:cNvGrpSpPr/>
            <p:nvPr/>
          </p:nvGrpSpPr>
          <p:grpSpPr>
            <a:xfrm rot="0">
              <a:off x="0" y="0"/>
              <a:ext cx="2694838" cy="1328352"/>
              <a:chOff x="0" y="0"/>
              <a:chExt cx="3419065" cy="1685341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3419090" cy="1685417"/>
              </a:xfrm>
              <a:custGeom>
                <a:avLst/>
                <a:gdLst/>
                <a:ahLst/>
                <a:cxnLst/>
                <a:rect r="r" b="b" t="t" l="l"/>
                <a:pathLst>
                  <a:path h="1685417" w="3419090">
                    <a:moveTo>
                      <a:pt x="0" y="280924"/>
                    </a:moveTo>
                    <a:cubicBezTo>
                      <a:pt x="0" y="125730"/>
                      <a:pt x="116228" y="0"/>
                      <a:pt x="259692" y="0"/>
                    </a:cubicBezTo>
                    <a:lnTo>
                      <a:pt x="3159395" y="0"/>
                    </a:lnTo>
                    <a:cubicBezTo>
                      <a:pt x="3302860" y="0"/>
                      <a:pt x="3419090" y="125730"/>
                      <a:pt x="3419090" y="280924"/>
                    </a:cubicBezTo>
                    <a:lnTo>
                      <a:pt x="3419090" y="1404493"/>
                    </a:lnTo>
                    <a:cubicBezTo>
                      <a:pt x="3419090" y="1559687"/>
                      <a:pt x="3302860" y="1685417"/>
                      <a:pt x="3159395" y="1685417"/>
                    </a:cubicBezTo>
                    <a:lnTo>
                      <a:pt x="259692" y="1685417"/>
                    </a:lnTo>
                    <a:cubicBezTo>
                      <a:pt x="116228" y="1685290"/>
                      <a:pt x="0" y="1559560"/>
                      <a:pt x="0" y="1404493"/>
                    </a:cubicBezTo>
                    <a:close/>
                  </a:path>
                </a:pathLst>
              </a:custGeom>
              <a:solidFill>
                <a:srgbClr val="1F2737"/>
              </a:solidFill>
              <a:ln w="28597" cap="sq">
                <a:solidFill>
                  <a:srgbClr val="F7AA4E"/>
                </a:solidFill>
                <a:prstDash val="solid"/>
                <a:miter/>
              </a:ln>
            </p:spPr>
          </p:sp>
        </p:grpSp>
        <p:sp>
          <p:nvSpPr>
            <p:cNvPr name="TextBox 20" id="20"/>
            <p:cNvSpPr txBox="true"/>
            <p:nvPr/>
          </p:nvSpPr>
          <p:spPr>
            <a:xfrm rot="0">
              <a:off x="822448" y="511578"/>
              <a:ext cx="1049942" cy="38037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69"/>
                </a:lnSpc>
              </a:pPr>
              <a:r>
                <a:rPr lang="en-US" sz="1891" b="true">
                  <a:solidFill>
                    <a:srgbClr val="F1F5F9"/>
                  </a:solidFill>
                  <a:latin typeface="Aptos Bold"/>
                  <a:ea typeface="Aptos Bold"/>
                  <a:cs typeface="Aptos Bold"/>
                  <a:sym typeface="Aptos Bold"/>
                </a:rPr>
                <a:t>Song D</a:t>
              </a:r>
            </a:p>
          </p:txBody>
        </p:sp>
      </p:grpSp>
      <p:sp>
        <p:nvSpPr>
          <p:cNvPr name="AutoShape 21" id="21"/>
          <p:cNvSpPr/>
          <p:nvPr/>
        </p:nvSpPr>
        <p:spPr>
          <a:xfrm flipV="true">
            <a:off x="2902980" y="4117898"/>
            <a:ext cx="589230" cy="527470"/>
          </a:xfrm>
          <a:prstGeom prst="line">
            <a:avLst/>
          </a:prstGeom>
          <a:ln cap="rnd" w="38100">
            <a:solidFill>
              <a:srgbClr val="A6B1C3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22" id="22"/>
          <p:cNvSpPr/>
          <p:nvPr/>
        </p:nvSpPr>
        <p:spPr>
          <a:xfrm flipH="true">
            <a:off x="3049828" y="4616030"/>
            <a:ext cx="696783" cy="527470"/>
          </a:xfrm>
          <a:prstGeom prst="line">
            <a:avLst/>
          </a:prstGeom>
          <a:ln cap="rnd" w="38100">
            <a:solidFill>
              <a:srgbClr val="A6B1C3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TextBox 23" id="23"/>
          <p:cNvSpPr txBox="true"/>
          <p:nvPr/>
        </p:nvSpPr>
        <p:spPr>
          <a:xfrm rot="0">
            <a:off x="1056151" y="7620229"/>
            <a:ext cx="7509193" cy="1524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62"/>
              </a:lnSpc>
            </a:pPr>
            <a:r>
              <a:rPr lang="en-US" sz="2551">
                <a:solidFill>
                  <a:srgbClr val="F1F5F9"/>
                </a:solidFill>
                <a:latin typeface="Aptos"/>
                <a:ea typeface="Aptos"/>
                <a:cs typeface="Aptos"/>
                <a:sym typeface="Aptos"/>
              </a:rPr>
              <a:t>•  Forward traversal → Next song</a:t>
            </a:r>
          </a:p>
          <a:p>
            <a:pPr algn="l">
              <a:lnSpc>
                <a:spcPts val="3062"/>
              </a:lnSpc>
            </a:pPr>
            <a:r>
              <a:rPr lang="en-US" sz="2551">
                <a:solidFill>
                  <a:srgbClr val="F1F5F9"/>
                </a:solidFill>
                <a:latin typeface="Aptos"/>
                <a:ea typeface="Aptos"/>
                <a:cs typeface="Aptos"/>
                <a:sym typeface="Aptos"/>
              </a:rPr>
              <a:t>•  Backward traversal → Previous song</a:t>
            </a:r>
          </a:p>
          <a:p>
            <a:pPr algn="l">
              <a:lnSpc>
                <a:spcPts val="3062"/>
              </a:lnSpc>
            </a:pPr>
            <a:r>
              <a:rPr lang="en-US" sz="2551">
                <a:solidFill>
                  <a:srgbClr val="F1F5F9"/>
                </a:solidFill>
                <a:latin typeface="Aptos"/>
                <a:ea typeface="Aptos"/>
                <a:cs typeface="Aptos"/>
                <a:sym typeface="Aptos"/>
              </a:rPr>
              <a:t>•  Dynamic nodes → Songs can be added or removed</a:t>
            </a:r>
          </a:p>
          <a:p>
            <a:pPr algn="l">
              <a:lnSpc>
                <a:spcPts val="3062"/>
              </a:lnSpc>
            </a:pPr>
            <a:r>
              <a:rPr lang="en-US" sz="2551">
                <a:solidFill>
                  <a:srgbClr val="F1F5F9"/>
                </a:solidFill>
                <a:latin typeface="Aptos"/>
                <a:ea typeface="Aptos"/>
                <a:cs typeface="Aptos"/>
                <a:sym typeface="Aptos"/>
              </a:rPr>
              <a:t>•  Nodes do not need contiguous memory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6935969" y="9718138"/>
            <a:ext cx="562842" cy="2657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1"/>
              </a:lnSpc>
            </a:pPr>
            <a:r>
              <a:rPr lang="en-US" sz="1351" b="true">
                <a:solidFill>
                  <a:srgbClr val="A6B1C3"/>
                </a:solidFill>
                <a:latin typeface="Aptos Bold"/>
                <a:ea typeface="Aptos Bold"/>
                <a:cs typeface="Aptos Bold"/>
                <a:sym typeface="Aptos Bold"/>
              </a:rPr>
              <a:t>03</a:t>
            </a:r>
          </a:p>
        </p:txBody>
      </p:sp>
      <p:sp>
        <p:nvSpPr>
          <p:cNvPr name="AutoShape 25" id="25"/>
          <p:cNvSpPr/>
          <p:nvPr/>
        </p:nvSpPr>
        <p:spPr>
          <a:xfrm>
            <a:off x="5513338" y="4117898"/>
            <a:ext cx="597576" cy="527470"/>
          </a:xfrm>
          <a:prstGeom prst="line">
            <a:avLst/>
          </a:prstGeom>
          <a:ln cap="rnd" w="38100">
            <a:solidFill>
              <a:srgbClr val="A6B1C3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26" id="26"/>
          <p:cNvSpPr/>
          <p:nvPr/>
        </p:nvSpPr>
        <p:spPr>
          <a:xfrm flipH="true" flipV="true">
            <a:off x="2875380" y="5641632"/>
            <a:ext cx="616830" cy="536366"/>
          </a:xfrm>
          <a:prstGeom prst="line">
            <a:avLst/>
          </a:prstGeom>
          <a:ln cap="rnd" w="38100">
            <a:solidFill>
              <a:srgbClr val="A6B1C3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27" id="27"/>
          <p:cNvSpPr/>
          <p:nvPr/>
        </p:nvSpPr>
        <p:spPr>
          <a:xfrm>
            <a:off x="3049828" y="5441084"/>
            <a:ext cx="489155" cy="437569"/>
          </a:xfrm>
          <a:prstGeom prst="line">
            <a:avLst/>
          </a:prstGeom>
          <a:ln cap="rnd" w="38100">
            <a:solidFill>
              <a:srgbClr val="A6B1C3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28" id="28"/>
          <p:cNvSpPr/>
          <p:nvPr/>
        </p:nvSpPr>
        <p:spPr>
          <a:xfrm flipH="true" flipV="true">
            <a:off x="5194877" y="4616030"/>
            <a:ext cx="542029" cy="527470"/>
          </a:xfrm>
          <a:prstGeom prst="line">
            <a:avLst/>
          </a:prstGeom>
          <a:ln cap="rnd" w="38100">
            <a:solidFill>
              <a:srgbClr val="A6B1C3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29" id="29"/>
          <p:cNvSpPr/>
          <p:nvPr/>
        </p:nvSpPr>
        <p:spPr>
          <a:xfrm flipH="true">
            <a:off x="5513338" y="5641632"/>
            <a:ext cx="597576" cy="782535"/>
          </a:xfrm>
          <a:prstGeom prst="line">
            <a:avLst/>
          </a:prstGeom>
          <a:ln cap="rnd" w="38100">
            <a:solidFill>
              <a:srgbClr val="A6B1C3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30" id="30"/>
          <p:cNvSpPr/>
          <p:nvPr/>
        </p:nvSpPr>
        <p:spPr>
          <a:xfrm flipV="true">
            <a:off x="5377978" y="5412996"/>
            <a:ext cx="358928" cy="433923"/>
          </a:xfrm>
          <a:prstGeom prst="line">
            <a:avLst/>
          </a:prstGeom>
          <a:ln cap="rnd" w="38100">
            <a:solidFill>
              <a:srgbClr val="A6B1C3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TextBox 31" id="31"/>
          <p:cNvSpPr txBox="true"/>
          <p:nvPr/>
        </p:nvSpPr>
        <p:spPr>
          <a:xfrm rot="0">
            <a:off x="10013640" y="1143000"/>
            <a:ext cx="1164097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5B8DEF"/>
                </a:solidFill>
                <a:latin typeface="Aptos Bold"/>
                <a:ea typeface="Aptos Bold"/>
                <a:cs typeface="Aptos Bold"/>
                <a:sym typeface="Aptos Bold"/>
              </a:rPr>
              <a:t>03 • DESIGN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0013640" y="1618955"/>
            <a:ext cx="3880448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0"/>
              </a:lnSpc>
            </a:pPr>
            <a:r>
              <a:rPr lang="en-US" sz="4500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System Design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0041705" y="2487940"/>
            <a:ext cx="7457106" cy="6381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2100">
                <a:solidFill>
                  <a:srgbClr val="A6B1C3"/>
                </a:solidFill>
                <a:latin typeface="Aptos"/>
                <a:ea typeface="Aptos"/>
                <a:cs typeface="Aptos"/>
                <a:sym typeface="Aptos"/>
              </a:rPr>
              <a:t>The project separates input data, linked-list operations and the user interface.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9511137" y="3580574"/>
            <a:ext cx="1570392" cy="1029493"/>
            <a:chOff x="0" y="0"/>
            <a:chExt cx="2093856" cy="1372658"/>
          </a:xfrm>
        </p:grpSpPr>
        <p:grpSp>
          <p:nvGrpSpPr>
            <p:cNvPr name="Group 35" id="35"/>
            <p:cNvGrpSpPr/>
            <p:nvPr/>
          </p:nvGrpSpPr>
          <p:grpSpPr>
            <a:xfrm rot="0">
              <a:off x="0" y="0"/>
              <a:ext cx="2093856" cy="1013228"/>
              <a:chOff x="0" y="0"/>
              <a:chExt cx="3482789" cy="1685341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3482878" cy="1685417"/>
              </a:xfrm>
              <a:custGeom>
                <a:avLst/>
                <a:gdLst/>
                <a:ahLst/>
                <a:cxnLst/>
                <a:rect r="r" b="b" t="t" l="l"/>
                <a:pathLst>
                  <a:path h="1685417" w="3482878">
                    <a:moveTo>
                      <a:pt x="0" y="280924"/>
                    </a:moveTo>
                    <a:cubicBezTo>
                      <a:pt x="0" y="125730"/>
                      <a:pt x="115536" y="0"/>
                      <a:pt x="258146" y="0"/>
                    </a:cubicBezTo>
                    <a:lnTo>
                      <a:pt x="3224725" y="0"/>
                    </a:lnTo>
                    <a:cubicBezTo>
                      <a:pt x="3367335" y="0"/>
                      <a:pt x="3482878" y="125730"/>
                      <a:pt x="3482878" y="280924"/>
                    </a:cubicBezTo>
                    <a:lnTo>
                      <a:pt x="3482878" y="1404493"/>
                    </a:lnTo>
                    <a:cubicBezTo>
                      <a:pt x="3482878" y="1559687"/>
                      <a:pt x="3367335" y="1685417"/>
                      <a:pt x="3224725" y="1685417"/>
                    </a:cubicBezTo>
                    <a:lnTo>
                      <a:pt x="258146" y="1685417"/>
                    </a:lnTo>
                    <a:cubicBezTo>
                      <a:pt x="115536" y="1685290"/>
                      <a:pt x="0" y="1559560"/>
                      <a:pt x="0" y="1404493"/>
                    </a:cubicBezTo>
                    <a:close/>
                  </a:path>
                </a:pathLst>
              </a:custGeom>
              <a:solidFill>
                <a:srgbClr val="1F2737"/>
              </a:solidFill>
              <a:ln w="28597" cap="sq">
                <a:solidFill>
                  <a:srgbClr val="F7AA4E"/>
                </a:solidFill>
                <a:prstDash val="solid"/>
                <a:miter/>
              </a:ln>
            </p:spPr>
          </p:sp>
        </p:grpSp>
        <p:sp>
          <p:nvSpPr>
            <p:cNvPr name="TextBox 37" id="37"/>
            <p:cNvSpPr txBox="true"/>
            <p:nvPr/>
          </p:nvSpPr>
          <p:spPr>
            <a:xfrm rot="0">
              <a:off x="538833" y="343790"/>
              <a:ext cx="1016190" cy="28556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47"/>
                </a:lnSpc>
              </a:pPr>
              <a:r>
                <a:rPr lang="en-US" sz="1372" b="true">
                  <a:solidFill>
                    <a:srgbClr val="F1F5F9"/>
                  </a:solidFill>
                  <a:latin typeface="Aptos Bold"/>
                  <a:ea typeface="Aptos Bold"/>
                  <a:cs typeface="Aptos Bold"/>
                  <a:sym typeface="Aptos Bold"/>
                </a:rPr>
                <a:t>CSV Files</a:t>
              </a:r>
            </a:p>
          </p:txBody>
        </p:sp>
        <p:sp>
          <p:nvSpPr>
            <p:cNvPr name="TextBox 38" id="38"/>
            <p:cNvSpPr txBox="true"/>
            <p:nvPr/>
          </p:nvSpPr>
          <p:spPr>
            <a:xfrm rot="0">
              <a:off x="30738" y="1174141"/>
              <a:ext cx="2032380" cy="1985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191"/>
                </a:lnSpc>
              </a:pPr>
              <a:r>
                <a:rPr lang="en-US" sz="992">
                  <a:solidFill>
                    <a:srgbClr val="A6B1C3"/>
                  </a:solidFill>
                  <a:latin typeface="Aptos"/>
                  <a:ea typeface="Aptos"/>
                  <a:cs typeface="Aptos"/>
                  <a:sym typeface="Aptos"/>
                </a:rPr>
                <a:t>Playlist data</a:t>
              </a:r>
            </a:p>
          </p:txBody>
        </p:sp>
      </p:grpSp>
      <p:sp>
        <p:nvSpPr>
          <p:cNvPr name="AutoShape 39" id="39"/>
          <p:cNvSpPr/>
          <p:nvPr/>
        </p:nvSpPr>
        <p:spPr>
          <a:xfrm>
            <a:off x="11081529" y="3911283"/>
            <a:ext cx="183761" cy="40016"/>
          </a:xfrm>
          <a:prstGeom prst="line">
            <a:avLst/>
          </a:prstGeom>
          <a:ln cap="rnd" w="9525">
            <a:solidFill>
              <a:srgbClr val="A6B1C3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0" id="40"/>
          <p:cNvGrpSpPr/>
          <p:nvPr/>
        </p:nvGrpSpPr>
        <p:grpSpPr>
          <a:xfrm rot="0">
            <a:off x="11265290" y="3574612"/>
            <a:ext cx="1578855" cy="1035041"/>
            <a:chOff x="0" y="0"/>
            <a:chExt cx="2105140" cy="1380055"/>
          </a:xfrm>
        </p:grpSpPr>
        <p:grpSp>
          <p:nvGrpSpPr>
            <p:cNvPr name="Group 41" id="41"/>
            <p:cNvGrpSpPr/>
            <p:nvPr/>
          </p:nvGrpSpPr>
          <p:grpSpPr>
            <a:xfrm rot="0">
              <a:off x="0" y="0"/>
              <a:ext cx="2105140" cy="1018689"/>
              <a:chOff x="0" y="0"/>
              <a:chExt cx="3482789" cy="1685341"/>
            </a:xfrm>
          </p:grpSpPr>
          <p:sp>
            <p:nvSpPr>
              <p:cNvPr name="Freeform 42" id="42"/>
              <p:cNvSpPr/>
              <p:nvPr/>
            </p:nvSpPr>
            <p:spPr>
              <a:xfrm flipH="false" flipV="false" rot="0">
                <a:off x="0" y="0"/>
                <a:ext cx="3482878" cy="1685417"/>
              </a:xfrm>
              <a:custGeom>
                <a:avLst/>
                <a:gdLst/>
                <a:ahLst/>
                <a:cxnLst/>
                <a:rect r="r" b="b" t="t" l="l"/>
                <a:pathLst>
                  <a:path h="1685417" w="3482878">
                    <a:moveTo>
                      <a:pt x="0" y="280924"/>
                    </a:moveTo>
                    <a:cubicBezTo>
                      <a:pt x="0" y="125730"/>
                      <a:pt x="115536" y="0"/>
                      <a:pt x="258146" y="0"/>
                    </a:cubicBezTo>
                    <a:lnTo>
                      <a:pt x="3224725" y="0"/>
                    </a:lnTo>
                    <a:cubicBezTo>
                      <a:pt x="3367335" y="0"/>
                      <a:pt x="3482878" y="125730"/>
                      <a:pt x="3482878" y="280924"/>
                    </a:cubicBezTo>
                    <a:lnTo>
                      <a:pt x="3482878" y="1404493"/>
                    </a:lnTo>
                    <a:cubicBezTo>
                      <a:pt x="3482878" y="1559687"/>
                      <a:pt x="3367335" y="1685417"/>
                      <a:pt x="3224725" y="1685417"/>
                    </a:cubicBezTo>
                    <a:lnTo>
                      <a:pt x="258146" y="1685417"/>
                    </a:lnTo>
                    <a:cubicBezTo>
                      <a:pt x="115536" y="1685290"/>
                      <a:pt x="0" y="1559560"/>
                      <a:pt x="0" y="1404493"/>
                    </a:cubicBezTo>
                    <a:close/>
                  </a:path>
                </a:pathLst>
              </a:custGeom>
              <a:solidFill>
                <a:srgbClr val="1F2737"/>
              </a:solidFill>
              <a:ln w="28597" cap="sq">
                <a:solidFill>
                  <a:srgbClr val="5B8DEF"/>
                </a:solidFill>
                <a:prstDash val="solid"/>
                <a:miter/>
              </a:ln>
            </p:spPr>
          </p:sp>
        </p:grpSp>
        <p:sp>
          <p:nvSpPr>
            <p:cNvPr name="TextBox 43" id="43"/>
            <p:cNvSpPr txBox="true"/>
            <p:nvPr/>
          </p:nvSpPr>
          <p:spPr>
            <a:xfrm rot="0">
              <a:off x="432835" y="345692"/>
              <a:ext cx="1239469" cy="28704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56"/>
                </a:lnSpc>
              </a:pPr>
              <a:r>
                <a:rPr lang="en-US" sz="1380" b="true">
                  <a:solidFill>
                    <a:srgbClr val="F1F5F9"/>
                  </a:solidFill>
                  <a:latin typeface="Aptos Bold"/>
                  <a:ea typeface="Aptos Bold"/>
                  <a:cs typeface="Aptos Bold"/>
                  <a:sym typeface="Aptos Bold"/>
                </a:rPr>
                <a:t>CSV Loader</a:t>
              </a:r>
            </a:p>
          </p:txBody>
        </p:sp>
        <p:sp>
          <p:nvSpPr>
            <p:cNvPr name="TextBox 44" id="44"/>
            <p:cNvSpPr txBox="true"/>
            <p:nvPr/>
          </p:nvSpPr>
          <p:spPr>
            <a:xfrm rot="0">
              <a:off x="30903" y="1180469"/>
              <a:ext cx="2043333" cy="19958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197"/>
                </a:lnSpc>
              </a:pPr>
              <a:r>
                <a:rPr lang="en-US" sz="998">
                  <a:solidFill>
                    <a:srgbClr val="A6B1C3"/>
                  </a:solidFill>
                  <a:latin typeface="Aptos"/>
                  <a:ea typeface="Aptos"/>
                  <a:cs typeface="Aptos"/>
                  <a:sym typeface="Aptos"/>
                </a:rPr>
                <a:t>Read records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13027907" y="3580988"/>
            <a:ext cx="1578855" cy="1035041"/>
            <a:chOff x="0" y="0"/>
            <a:chExt cx="2105140" cy="1380055"/>
          </a:xfrm>
        </p:grpSpPr>
        <p:grpSp>
          <p:nvGrpSpPr>
            <p:cNvPr name="Group 46" id="46"/>
            <p:cNvGrpSpPr/>
            <p:nvPr/>
          </p:nvGrpSpPr>
          <p:grpSpPr>
            <a:xfrm rot="0">
              <a:off x="0" y="0"/>
              <a:ext cx="2105140" cy="1018689"/>
              <a:chOff x="0" y="0"/>
              <a:chExt cx="3482789" cy="1685341"/>
            </a:xfrm>
          </p:grpSpPr>
          <p:sp>
            <p:nvSpPr>
              <p:cNvPr name="Freeform 47" id="47"/>
              <p:cNvSpPr/>
              <p:nvPr/>
            </p:nvSpPr>
            <p:spPr>
              <a:xfrm flipH="false" flipV="false" rot="0">
                <a:off x="0" y="0"/>
                <a:ext cx="3482878" cy="1685417"/>
              </a:xfrm>
              <a:custGeom>
                <a:avLst/>
                <a:gdLst/>
                <a:ahLst/>
                <a:cxnLst/>
                <a:rect r="r" b="b" t="t" l="l"/>
                <a:pathLst>
                  <a:path h="1685417" w="3482878">
                    <a:moveTo>
                      <a:pt x="0" y="280924"/>
                    </a:moveTo>
                    <a:cubicBezTo>
                      <a:pt x="0" y="125730"/>
                      <a:pt x="115536" y="0"/>
                      <a:pt x="258146" y="0"/>
                    </a:cubicBezTo>
                    <a:lnTo>
                      <a:pt x="3224725" y="0"/>
                    </a:lnTo>
                    <a:cubicBezTo>
                      <a:pt x="3367335" y="0"/>
                      <a:pt x="3482878" y="125730"/>
                      <a:pt x="3482878" y="280924"/>
                    </a:cubicBezTo>
                    <a:lnTo>
                      <a:pt x="3482878" y="1404493"/>
                    </a:lnTo>
                    <a:cubicBezTo>
                      <a:pt x="3482878" y="1559687"/>
                      <a:pt x="3367335" y="1685417"/>
                      <a:pt x="3224725" y="1685417"/>
                    </a:cubicBezTo>
                    <a:lnTo>
                      <a:pt x="258146" y="1685417"/>
                    </a:lnTo>
                    <a:cubicBezTo>
                      <a:pt x="115536" y="1685290"/>
                      <a:pt x="0" y="1559560"/>
                      <a:pt x="0" y="1404493"/>
                    </a:cubicBezTo>
                    <a:close/>
                  </a:path>
                </a:pathLst>
              </a:custGeom>
              <a:solidFill>
                <a:srgbClr val="1F2737"/>
              </a:solidFill>
              <a:ln w="28597" cap="sq">
                <a:solidFill>
                  <a:srgbClr val="5CD3AA"/>
                </a:solidFill>
                <a:prstDash val="solid"/>
                <a:miter/>
              </a:ln>
            </p:spPr>
          </p:sp>
        </p:grpSp>
        <p:sp>
          <p:nvSpPr>
            <p:cNvPr name="TextBox 48" id="48"/>
            <p:cNvSpPr txBox="true"/>
            <p:nvPr/>
          </p:nvSpPr>
          <p:spPr>
            <a:xfrm rot="0">
              <a:off x="137669" y="345694"/>
              <a:ext cx="1829816" cy="56457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56"/>
                </a:lnSpc>
              </a:pPr>
              <a:r>
                <a:rPr lang="en-US" sz="1380" b="true">
                  <a:solidFill>
                    <a:srgbClr val="F1F5F9"/>
                  </a:solidFill>
                  <a:latin typeface="Aptos Bold"/>
                  <a:ea typeface="Aptos Bold"/>
                  <a:cs typeface="Aptos Bold"/>
                  <a:sym typeface="Aptos Bold"/>
                </a:rPr>
                <a:t>Doubly Linked List</a:t>
              </a:r>
            </a:p>
          </p:txBody>
        </p:sp>
        <p:sp>
          <p:nvSpPr>
            <p:cNvPr name="TextBox 49" id="49"/>
            <p:cNvSpPr txBox="true"/>
            <p:nvPr/>
          </p:nvSpPr>
          <p:spPr>
            <a:xfrm rot="0">
              <a:off x="30911" y="1180469"/>
              <a:ext cx="2043333" cy="19958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197"/>
                </a:lnSpc>
              </a:pPr>
              <a:r>
                <a:rPr lang="en-US" sz="998">
                  <a:solidFill>
                    <a:srgbClr val="A6B1C3"/>
                  </a:solidFill>
                  <a:latin typeface="Aptos"/>
                  <a:ea typeface="Aptos"/>
                  <a:cs typeface="Aptos"/>
                  <a:sym typeface="Aptos"/>
                </a:rPr>
                <a:t>Core DS</a:t>
              </a:r>
            </a:p>
          </p:txBody>
        </p:sp>
      </p:grpSp>
      <p:sp>
        <p:nvSpPr>
          <p:cNvPr name="AutoShape 50" id="50"/>
          <p:cNvSpPr/>
          <p:nvPr/>
        </p:nvSpPr>
        <p:spPr>
          <a:xfrm>
            <a:off x="12844145" y="3850222"/>
            <a:ext cx="183761" cy="61475"/>
          </a:xfrm>
          <a:prstGeom prst="line">
            <a:avLst/>
          </a:prstGeom>
          <a:ln cap="rnd" w="9525">
            <a:solidFill>
              <a:srgbClr val="A6B1C3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51" id="51"/>
          <p:cNvGrpSpPr/>
          <p:nvPr/>
        </p:nvGrpSpPr>
        <p:grpSpPr>
          <a:xfrm rot="0">
            <a:off x="14787761" y="3572430"/>
            <a:ext cx="1534287" cy="1005824"/>
            <a:chOff x="0" y="0"/>
            <a:chExt cx="2045715" cy="1341099"/>
          </a:xfrm>
        </p:grpSpPr>
        <p:grpSp>
          <p:nvGrpSpPr>
            <p:cNvPr name="Group 52" id="52"/>
            <p:cNvGrpSpPr/>
            <p:nvPr/>
          </p:nvGrpSpPr>
          <p:grpSpPr>
            <a:xfrm rot="0">
              <a:off x="0" y="0"/>
              <a:ext cx="2045715" cy="989933"/>
              <a:chOff x="0" y="0"/>
              <a:chExt cx="3482789" cy="1685341"/>
            </a:xfrm>
          </p:grpSpPr>
          <p:sp>
            <p:nvSpPr>
              <p:cNvPr name="Freeform 53" id="53"/>
              <p:cNvSpPr/>
              <p:nvPr/>
            </p:nvSpPr>
            <p:spPr>
              <a:xfrm flipH="false" flipV="false" rot="0">
                <a:off x="0" y="0"/>
                <a:ext cx="3482878" cy="1685417"/>
              </a:xfrm>
              <a:custGeom>
                <a:avLst/>
                <a:gdLst/>
                <a:ahLst/>
                <a:cxnLst/>
                <a:rect r="r" b="b" t="t" l="l"/>
                <a:pathLst>
                  <a:path h="1685417" w="3482878">
                    <a:moveTo>
                      <a:pt x="0" y="280924"/>
                    </a:moveTo>
                    <a:cubicBezTo>
                      <a:pt x="0" y="125730"/>
                      <a:pt x="115536" y="0"/>
                      <a:pt x="258146" y="0"/>
                    </a:cubicBezTo>
                    <a:lnTo>
                      <a:pt x="3224725" y="0"/>
                    </a:lnTo>
                    <a:cubicBezTo>
                      <a:pt x="3367335" y="0"/>
                      <a:pt x="3482878" y="125730"/>
                      <a:pt x="3482878" y="280924"/>
                    </a:cubicBezTo>
                    <a:lnTo>
                      <a:pt x="3482878" y="1404493"/>
                    </a:lnTo>
                    <a:cubicBezTo>
                      <a:pt x="3482878" y="1559687"/>
                      <a:pt x="3367335" y="1685417"/>
                      <a:pt x="3224725" y="1685417"/>
                    </a:cubicBezTo>
                    <a:lnTo>
                      <a:pt x="258146" y="1685417"/>
                    </a:lnTo>
                    <a:cubicBezTo>
                      <a:pt x="115536" y="1685290"/>
                      <a:pt x="0" y="1559560"/>
                      <a:pt x="0" y="1404493"/>
                    </a:cubicBezTo>
                    <a:close/>
                  </a:path>
                </a:pathLst>
              </a:custGeom>
              <a:solidFill>
                <a:srgbClr val="1F2737"/>
              </a:solidFill>
              <a:ln w="28597" cap="sq">
                <a:solidFill>
                  <a:srgbClr val="5B8DEF"/>
                </a:solidFill>
                <a:prstDash val="solid"/>
                <a:miter/>
              </a:ln>
            </p:spPr>
          </p:sp>
        </p:grpSp>
        <p:sp>
          <p:nvSpPr>
            <p:cNvPr name="TextBox 54" id="54"/>
            <p:cNvSpPr txBox="true"/>
            <p:nvPr/>
          </p:nvSpPr>
          <p:spPr>
            <a:xfrm rot="0">
              <a:off x="426817" y="350597"/>
              <a:ext cx="1192081" cy="27921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09"/>
                </a:lnSpc>
              </a:pPr>
              <a:r>
                <a:rPr lang="en-US" sz="1341" b="true">
                  <a:solidFill>
                    <a:srgbClr val="F1F5F9"/>
                  </a:solidFill>
                  <a:latin typeface="Aptos Bold"/>
                  <a:ea typeface="Aptos Bold"/>
                  <a:cs typeface="Aptos Bold"/>
                  <a:sym typeface="Aptos Bold"/>
                </a:rPr>
                <a:t>Operations</a:t>
              </a:r>
            </a:p>
          </p:txBody>
        </p:sp>
        <p:sp>
          <p:nvSpPr>
            <p:cNvPr name="TextBox 55" id="55"/>
            <p:cNvSpPr txBox="true"/>
            <p:nvPr/>
          </p:nvSpPr>
          <p:spPr>
            <a:xfrm rot="0">
              <a:off x="30031" y="1147146"/>
              <a:ext cx="1985653" cy="19395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163"/>
                </a:lnSpc>
              </a:pPr>
              <a:r>
                <a:rPr lang="en-US" sz="969">
                  <a:solidFill>
                    <a:srgbClr val="A6B1C3"/>
                  </a:solidFill>
                  <a:latin typeface="Aptos"/>
                  <a:ea typeface="Aptos"/>
                  <a:cs typeface="Aptos"/>
                  <a:sym typeface="Aptos"/>
                </a:rPr>
                <a:t>Search • Add • Delete</a:t>
              </a:r>
            </a:p>
          </p:txBody>
        </p:sp>
      </p:grpSp>
      <p:sp>
        <p:nvSpPr>
          <p:cNvPr name="AutoShape 56" id="56"/>
          <p:cNvSpPr/>
          <p:nvPr/>
        </p:nvSpPr>
        <p:spPr>
          <a:xfrm>
            <a:off x="14606761" y="3851050"/>
            <a:ext cx="181000" cy="57637"/>
          </a:xfrm>
          <a:prstGeom prst="line">
            <a:avLst/>
          </a:prstGeom>
          <a:ln cap="rnd" w="9525">
            <a:solidFill>
              <a:srgbClr val="A6B1C3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57" id="57"/>
          <p:cNvGrpSpPr/>
          <p:nvPr/>
        </p:nvGrpSpPr>
        <p:grpSpPr>
          <a:xfrm rot="0">
            <a:off x="16503555" y="3578393"/>
            <a:ext cx="1525824" cy="1000276"/>
            <a:chOff x="0" y="0"/>
            <a:chExt cx="2034431" cy="1333701"/>
          </a:xfrm>
        </p:grpSpPr>
        <p:grpSp>
          <p:nvGrpSpPr>
            <p:cNvPr name="Group 58" id="58"/>
            <p:cNvGrpSpPr/>
            <p:nvPr/>
          </p:nvGrpSpPr>
          <p:grpSpPr>
            <a:xfrm rot="0">
              <a:off x="0" y="0"/>
              <a:ext cx="2034431" cy="984473"/>
              <a:chOff x="0" y="0"/>
              <a:chExt cx="3482789" cy="1685341"/>
            </a:xfrm>
          </p:grpSpPr>
          <p:sp>
            <p:nvSpPr>
              <p:cNvPr name="Freeform 59" id="59"/>
              <p:cNvSpPr/>
              <p:nvPr/>
            </p:nvSpPr>
            <p:spPr>
              <a:xfrm flipH="false" flipV="false" rot="0">
                <a:off x="0" y="0"/>
                <a:ext cx="3482878" cy="1685417"/>
              </a:xfrm>
              <a:custGeom>
                <a:avLst/>
                <a:gdLst/>
                <a:ahLst/>
                <a:cxnLst/>
                <a:rect r="r" b="b" t="t" l="l"/>
                <a:pathLst>
                  <a:path h="1685417" w="3482878">
                    <a:moveTo>
                      <a:pt x="0" y="280924"/>
                    </a:moveTo>
                    <a:cubicBezTo>
                      <a:pt x="0" y="125730"/>
                      <a:pt x="115536" y="0"/>
                      <a:pt x="258146" y="0"/>
                    </a:cubicBezTo>
                    <a:lnTo>
                      <a:pt x="3224725" y="0"/>
                    </a:lnTo>
                    <a:cubicBezTo>
                      <a:pt x="3367335" y="0"/>
                      <a:pt x="3482878" y="125730"/>
                      <a:pt x="3482878" y="280924"/>
                    </a:cubicBezTo>
                    <a:lnTo>
                      <a:pt x="3482878" y="1404493"/>
                    </a:lnTo>
                    <a:cubicBezTo>
                      <a:pt x="3482878" y="1559687"/>
                      <a:pt x="3367335" y="1685417"/>
                      <a:pt x="3224725" y="1685417"/>
                    </a:cubicBezTo>
                    <a:lnTo>
                      <a:pt x="258146" y="1685417"/>
                    </a:lnTo>
                    <a:cubicBezTo>
                      <a:pt x="115536" y="1685290"/>
                      <a:pt x="0" y="1559560"/>
                      <a:pt x="0" y="1404493"/>
                    </a:cubicBezTo>
                    <a:close/>
                  </a:path>
                </a:pathLst>
              </a:custGeom>
              <a:solidFill>
                <a:srgbClr val="1F2737"/>
              </a:solidFill>
              <a:ln w="28597" cap="sq">
                <a:solidFill>
                  <a:srgbClr val="F7AA4E"/>
                </a:solidFill>
                <a:prstDash val="solid"/>
                <a:miter/>
              </a:ln>
            </p:spPr>
          </p:sp>
        </p:grpSp>
        <p:sp>
          <p:nvSpPr>
            <p:cNvPr name="TextBox 60" id="60"/>
            <p:cNvSpPr txBox="true"/>
            <p:nvPr/>
          </p:nvSpPr>
          <p:spPr>
            <a:xfrm rot="0">
              <a:off x="438794" y="363461"/>
              <a:ext cx="1193340" cy="27772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600"/>
                </a:lnSpc>
              </a:pPr>
              <a:r>
                <a:rPr lang="en-US" sz="1333" b="true">
                  <a:solidFill>
                    <a:srgbClr val="F1F5F9"/>
                  </a:solidFill>
                  <a:latin typeface="Aptos Bold"/>
                  <a:ea typeface="Aptos Bold"/>
                  <a:cs typeface="Aptos Bold"/>
                  <a:sym typeface="Aptos Bold"/>
                </a:rPr>
                <a:t>Navigation</a:t>
              </a:r>
            </a:p>
          </p:txBody>
        </p:sp>
        <p:sp>
          <p:nvSpPr>
            <p:cNvPr name="TextBox 61" id="61"/>
            <p:cNvSpPr txBox="true"/>
            <p:nvPr/>
          </p:nvSpPr>
          <p:spPr>
            <a:xfrm rot="0">
              <a:off x="29865" y="1140819"/>
              <a:ext cx="1974700" cy="19288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157"/>
                </a:lnSpc>
              </a:pPr>
              <a:r>
                <a:rPr lang="en-US" sz="964">
                  <a:solidFill>
                    <a:srgbClr val="A6B1C3"/>
                  </a:solidFill>
                  <a:latin typeface="Aptos"/>
                  <a:ea typeface="Aptos"/>
                  <a:cs typeface="Aptos"/>
                  <a:sym typeface="Aptos"/>
                </a:rPr>
                <a:t>Next • Previous</a:t>
              </a: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10041705" y="5207046"/>
            <a:ext cx="7620536" cy="1555170"/>
            <a:chOff x="0" y="0"/>
            <a:chExt cx="10160715" cy="2073560"/>
          </a:xfrm>
        </p:grpSpPr>
        <p:grpSp>
          <p:nvGrpSpPr>
            <p:cNvPr name="Group 63" id="63"/>
            <p:cNvGrpSpPr/>
            <p:nvPr/>
          </p:nvGrpSpPr>
          <p:grpSpPr>
            <a:xfrm rot="0">
              <a:off x="0" y="0"/>
              <a:ext cx="10160715" cy="2073560"/>
              <a:chOff x="0" y="0"/>
              <a:chExt cx="11783443" cy="2404720"/>
            </a:xfrm>
          </p:grpSpPr>
          <p:sp>
            <p:nvSpPr>
              <p:cNvPr name="Freeform 64" id="64"/>
              <p:cNvSpPr/>
              <p:nvPr/>
            </p:nvSpPr>
            <p:spPr>
              <a:xfrm flipH="false" flipV="false" rot="0">
                <a:off x="0" y="0"/>
                <a:ext cx="11783426" cy="2404745"/>
              </a:xfrm>
              <a:custGeom>
                <a:avLst/>
                <a:gdLst/>
                <a:ahLst/>
                <a:cxnLst/>
                <a:rect r="r" b="b" t="t" l="l"/>
                <a:pathLst>
                  <a:path h="2404745" w="11783426">
                    <a:moveTo>
                      <a:pt x="0" y="400812"/>
                    </a:moveTo>
                    <a:cubicBezTo>
                      <a:pt x="0" y="179451"/>
                      <a:pt x="223736" y="0"/>
                      <a:pt x="499724" y="0"/>
                    </a:cubicBezTo>
                    <a:lnTo>
                      <a:pt x="11283702" y="0"/>
                    </a:lnTo>
                    <a:cubicBezTo>
                      <a:pt x="11559691" y="0"/>
                      <a:pt x="11783426" y="179451"/>
                      <a:pt x="11783426" y="400812"/>
                    </a:cubicBezTo>
                    <a:lnTo>
                      <a:pt x="11783426" y="2003933"/>
                    </a:lnTo>
                    <a:cubicBezTo>
                      <a:pt x="11783426" y="2225294"/>
                      <a:pt x="11559691" y="2404745"/>
                      <a:pt x="11283702" y="2404745"/>
                    </a:cubicBezTo>
                    <a:lnTo>
                      <a:pt x="499724" y="2404745"/>
                    </a:lnTo>
                    <a:cubicBezTo>
                      <a:pt x="223736" y="2404745"/>
                      <a:pt x="0" y="2225294"/>
                      <a:pt x="0" y="2003933"/>
                    </a:cubicBezTo>
                    <a:close/>
                  </a:path>
                </a:pathLst>
              </a:custGeom>
              <a:solidFill>
                <a:srgbClr val="171D2A"/>
              </a:solidFill>
              <a:ln w="19065" cap="sq">
                <a:solidFill>
                  <a:srgbClr val="303A4E"/>
                </a:solidFill>
                <a:prstDash val="solid"/>
                <a:miter/>
              </a:ln>
            </p:spPr>
          </p:sp>
        </p:grpSp>
        <p:grpSp>
          <p:nvGrpSpPr>
            <p:cNvPr name="Group 65" id="65"/>
            <p:cNvGrpSpPr/>
            <p:nvPr/>
          </p:nvGrpSpPr>
          <p:grpSpPr>
            <a:xfrm rot="0">
              <a:off x="13654" y="10962"/>
              <a:ext cx="157412" cy="2051636"/>
              <a:chOff x="0" y="0"/>
              <a:chExt cx="182551" cy="2379294"/>
            </a:xfrm>
          </p:grpSpPr>
          <p:sp>
            <p:nvSpPr>
              <p:cNvPr name="Freeform 66" id="66"/>
              <p:cNvSpPr/>
              <p:nvPr/>
            </p:nvSpPr>
            <p:spPr>
              <a:xfrm flipH="false" flipV="false" rot="0">
                <a:off x="0" y="0"/>
                <a:ext cx="182564" cy="2379345"/>
              </a:xfrm>
              <a:custGeom>
                <a:avLst/>
                <a:gdLst/>
                <a:ahLst/>
                <a:cxnLst/>
                <a:rect r="r" b="b" t="t" l="l"/>
                <a:pathLst>
                  <a:path h="2379345" w="182564">
                    <a:moveTo>
                      <a:pt x="0" y="0"/>
                    </a:moveTo>
                    <a:lnTo>
                      <a:pt x="182564" y="0"/>
                    </a:lnTo>
                    <a:lnTo>
                      <a:pt x="182564" y="2379345"/>
                    </a:lnTo>
                    <a:lnTo>
                      <a:pt x="0" y="2379345"/>
                    </a:lnTo>
                    <a:close/>
                  </a:path>
                </a:pathLst>
              </a:custGeom>
              <a:solidFill>
                <a:srgbClr val="F7AA4E"/>
              </a:solidFill>
            </p:spPr>
          </p:sp>
        </p:grpSp>
        <p:sp>
          <p:nvSpPr>
            <p:cNvPr name="TextBox 67" id="67"/>
            <p:cNvSpPr txBox="true"/>
            <p:nvPr/>
          </p:nvSpPr>
          <p:spPr>
            <a:xfrm rot="0">
              <a:off x="544900" y="337106"/>
              <a:ext cx="9169303" cy="43804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640"/>
                </a:lnSpc>
              </a:pPr>
              <a:r>
                <a:rPr lang="en-US" sz="2200" b="true">
                  <a:solidFill>
                    <a:srgbClr val="F1F5F9"/>
                  </a:solidFill>
                  <a:latin typeface="Aptos Bold"/>
                  <a:ea typeface="Aptos Bold"/>
                  <a:cs typeface="Aptos Bold"/>
                  <a:sym typeface="Aptos Bold"/>
                </a:rPr>
                <a:t>Input</a:t>
              </a:r>
            </a:p>
          </p:txBody>
        </p:sp>
        <p:sp>
          <p:nvSpPr>
            <p:cNvPr name="TextBox 68" id="68"/>
            <p:cNvSpPr txBox="true"/>
            <p:nvPr/>
          </p:nvSpPr>
          <p:spPr>
            <a:xfrm rot="0">
              <a:off x="544900" y="1085109"/>
              <a:ext cx="9169303" cy="3490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019"/>
                </a:lnSpc>
              </a:pPr>
              <a:r>
                <a:rPr lang="en-US" sz="1682">
                  <a:solidFill>
                    <a:srgbClr val="A6B1C3"/>
                  </a:solidFill>
                  <a:latin typeface="Aptos"/>
                  <a:ea typeface="Aptos"/>
                  <a:cs typeface="Aptos"/>
                  <a:sym typeface="Aptos"/>
                </a:rPr>
                <a:t>Playlist CSV files provide title, artist and duration information.</a:t>
              </a:r>
            </a:p>
          </p:txBody>
        </p:sp>
      </p:grpSp>
      <p:grpSp>
        <p:nvGrpSpPr>
          <p:cNvPr name="Group 69" id="69"/>
          <p:cNvGrpSpPr/>
          <p:nvPr/>
        </p:nvGrpSpPr>
        <p:grpSpPr>
          <a:xfrm rot="0">
            <a:off x="10041705" y="7009865"/>
            <a:ext cx="7620536" cy="1555170"/>
            <a:chOff x="0" y="0"/>
            <a:chExt cx="10160715" cy="2073560"/>
          </a:xfrm>
        </p:grpSpPr>
        <p:grpSp>
          <p:nvGrpSpPr>
            <p:cNvPr name="Group 70" id="70"/>
            <p:cNvGrpSpPr/>
            <p:nvPr/>
          </p:nvGrpSpPr>
          <p:grpSpPr>
            <a:xfrm rot="0">
              <a:off x="0" y="0"/>
              <a:ext cx="10160715" cy="2073560"/>
              <a:chOff x="0" y="0"/>
              <a:chExt cx="11783443" cy="2404720"/>
            </a:xfrm>
          </p:grpSpPr>
          <p:sp>
            <p:nvSpPr>
              <p:cNvPr name="Freeform 71" id="71"/>
              <p:cNvSpPr/>
              <p:nvPr/>
            </p:nvSpPr>
            <p:spPr>
              <a:xfrm flipH="false" flipV="false" rot="0">
                <a:off x="0" y="0"/>
                <a:ext cx="11783426" cy="2404745"/>
              </a:xfrm>
              <a:custGeom>
                <a:avLst/>
                <a:gdLst/>
                <a:ahLst/>
                <a:cxnLst/>
                <a:rect r="r" b="b" t="t" l="l"/>
                <a:pathLst>
                  <a:path h="2404745" w="11783426">
                    <a:moveTo>
                      <a:pt x="0" y="400812"/>
                    </a:moveTo>
                    <a:cubicBezTo>
                      <a:pt x="0" y="179451"/>
                      <a:pt x="223736" y="0"/>
                      <a:pt x="499724" y="0"/>
                    </a:cubicBezTo>
                    <a:lnTo>
                      <a:pt x="11283702" y="0"/>
                    </a:lnTo>
                    <a:cubicBezTo>
                      <a:pt x="11559691" y="0"/>
                      <a:pt x="11783426" y="179451"/>
                      <a:pt x="11783426" y="400812"/>
                    </a:cubicBezTo>
                    <a:lnTo>
                      <a:pt x="11783426" y="2003933"/>
                    </a:lnTo>
                    <a:cubicBezTo>
                      <a:pt x="11783426" y="2225294"/>
                      <a:pt x="11559691" y="2404745"/>
                      <a:pt x="11283702" y="2404745"/>
                    </a:cubicBezTo>
                    <a:lnTo>
                      <a:pt x="499724" y="2404745"/>
                    </a:lnTo>
                    <a:cubicBezTo>
                      <a:pt x="223736" y="2404745"/>
                      <a:pt x="0" y="2225294"/>
                      <a:pt x="0" y="2003933"/>
                    </a:cubicBezTo>
                    <a:close/>
                  </a:path>
                </a:pathLst>
              </a:custGeom>
              <a:solidFill>
                <a:srgbClr val="171D2A"/>
              </a:solidFill>
              <a:ln w="19065" cap="sq">
                <a:solidFill>
                  <a:srgbClr val="303A4E"/>
                </a:solidFill>
                <a:prstDash val="solid"/>
                <a:miter/>
              </a:ln>
            </p:spPr>
          </p:sp>
        </p:grpSp>
        <p:grpSp>
          <p:nvGrpSpPr>
            <p:cNvPr name="Group 72" id="72"/>
            <p:cNvGrpSpPr/>
            <p:nvPr/>
          </p:nvGrpSpPr>
          <p:grpSpPr>
            <a:xfrm rot="0">
              <a:off x="13667" y="10962"/>
              <a:ext cx="157412" cy="2051636"/>
              <a:chOff x="0" y="0"/>
              <a:chExt cx="182551" cy="2379294"/>
            </a:xfrm>
          </p:grpSpPr>
          <p:sp>
            <p:nvSpPr>
              <p:cNvPr name="Freeform 73" id="73"/>
              <p:cNvSpPr/>
              <p:nvPr/>
            </p:nvSpPr>
            <p:spPr>
              <a:xfrm flipH="false" flipV="false" rot="0">
                <a:off x="0" y="0"/>
                <a:ext cx="182564" cy="2379345"/>
              </a:xfrm>
              <a:custGeom>
                <a:avLst/>
                <a:gdLst/>
                <a:ahLst/>
                <a:cxnLst/>
                <a:rect r="r" b="b" t="t" l="l"/>
                <a:pathLst>
                  <a:path h="2379345" w="182564">
                    <a:moveTo>
                      <a:pt x="0" y="0"/>
                    </a:moveTo>
                    <a:lnTo>
                      <a:pt x="182564" y="0"/>
                    </a:lnTo>
                    <a:lnTo>
                      <a:pt x="182564" y="2379345"/>
                    </a:lnTo>
                    <a:lnTo>
                      <a:pt x="0" y="2379345"/>
                    </a:lnTo>
                    <a:close/>
                  </a:path>
                </a:pathLst>
              </a:custGeom>
              <a:solidFill>
                <a:srgbClr val="5CD3AA"/>
              </a:solidFill>
            </p:spPr>
          </p:sp>
        </p:grpSp>
        <p:sp>
          <p:nvSpPr>
            <p:cNvPr name="TextBox 74" id="74"/>
            <p:cNvSpPr txBox="true"/>
            <p:nvPr/>
          </p:nvSpPr>
          <p:spPr>
            <a:xfrm rot="0">
              <a:off x="434777" y="337106"/>
              <a:ext cx="9279426" cy="43804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640"/>
                </a:lnSpc>
              </a:pPr>
              <a:r>
                <a:rPr lang="en-US" sz="2200" b="true">
                  <a:solidFill>
                    <a:srgbClr val="F1F5F9"/>
                  </a:solidFill>
                  <a:latin typeface="Aptos Bold"/>
                  <a:ea typeface="Aptos Bold"/>
                  <a:cs typeface="Aptos Bold"/>
                  <a:sym typeface="Aptos Bold"/>
                </a:rPr>
                <a:t>Output</a:t>
              </a:r>
            </a:p>
          </p:txBody>
        </p:sp>
        <p:sp>
          <p:nvSpPr>
            <p:cNvPr name="TextBox 75" id="75"/>
            <p:cNvSpPr txBox="true"/>
            <p:nvPr/>
          </p:nvSpPr>
          <p:spPr>
            <a:xfrm rot="0">
              <a:off x="434777" y="1085109"/>
              <a:ext cx="9279426" cy="3490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019"/>
                </a:lnSpc>
              </a:pPr>
              <a:r>
                <a:rPr lang="en-US" sz="1682">
                  <a:solidFill>
                    <a:srgbClr val="A6B1C3"/>
                  </a:solidFill>
                  <a:latin typeface="Aptos"/>
                  <a:ea typeface="Aptos"/>
                  <a:cs typeface="Aptos"/>
                  <a:sym typeface="Aptos"/>
                </a:rPr>
                <a:t>A navigable playlist with search and modification operations.</a:t>
              </a:r>
            </a:p>
          </p:txBody>
        </p:sp>
      </p:grpSp>
      <p:sp>
        <p:nvSpPr>
          <p:cNvPr name="AutoShape 76" id="76"/>
          <p:cNvSpPr/>
          <p:nvPr/>
        </p:nvSpPr>
        <p:spPr>
          <a:xfrm>
            <a:off x="16322048" y="3848040"/>
            <a:ext cx="204070" cy="35763"/>
          </a:xfrm>
          <a:prstGeom prst="line">
            <a:avLst/>
          </a:prstGeom>
          <a:ln cap="rnd" w="9525">
            <a:solidFill>
              <a:srgbClr val="A6B1C3"/>
            </a:solidFill>
            <a:prstDash val="solid"/>
            <a:headEnd type="none" len="sm" w="sm"/>
            <a:tailEnd type="none" len="sm" w="sm"/>
          </a:ln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0C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1038225"/>
            <a:ext cx="7878855" cy="6487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7"/>
              </a:lnSpc>
            </a:pPr>
            <a:r>
              <a:rPr lang="en-US" sz="4322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Algorithms &amp; Operations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41874" y="1862394"/>
            <a:ext cx="7747104" cy="3112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0"/>
              </a:lnSpc>
            </a:pPr>
            <a:r>
              <a:rPr lang="en-US" sz="2017">
                <a:solidFill>
                  <a:srgbClr val="A6B1C3"/>
                </a:solidFill>
                <a:latin typeface="Aptos"/>
                <a:ea typeface="Aptos"/>
                <a:cs typeface="Aptos"/>
                <a:sym typeface="Aptos"/>
              </a:rPr>
              <a:t>Simple operations suited to a linked-list playlist.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086290" y="2618055"/>
            <a:ext cx="7192441" cy="1297324"/>
            <a:chOff x="0" y="0"/>
            <a:chExt cx="9589921" cy="1729766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0" y="0"/>
              <a:ext cx="9589921" cy="1729766"/>
              <a:chOff x="0" y="0"/>
              <a:chExt cx="9991280" cy="1802160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9991221" cy="1802124"/>
              </a:xfrm>
              <a:custGeom>
                <a:avLst/>
                <a:gdLst/>
                <a:ahLst/>
                <a:cxnLst/>
                <a:rect r="r" b="b" t="t" l="l"/>
                <a:pathLst>
                  <a:path h="1802124" w="9991221">
                    <a:moveTo>
                      <a:pt x="0" y="300369"/>
                    </a:moveTo>
                    <a:cubicBezTo>
                      <a:pt x="0" y="134506"/>
                      <a:pt x="174937" y="0"/>
                      <a:pt x="390658" y="0"/>
                    </a:cubicBezTo>
                    <a:lnTo>
                      <a:pt x="9600564" y="0"/>
                    </a:lnTo>
                    <a:cubicBezTo>
                      <a:pt x="9816285" y="0"/>
                      <a:pt x="9991221" y="134506"/>
                      <a:pt x="9991221" y="300369"/>
                    </a:cubicBezTo>
                    <a:lnTo>
                      <a:pt x="9991221" y="1501754"/>
                    </a:lnTo>
                    <a:cubicBezTo>
                      <a:pt x="9991221" y="1667618"/>
                      <a:pt x="9816285" y="1802124"/>
                      <a:pt x="9600564" y="1802124"/>
                    </a:cubicBezTo>
                    <a:lnTo>
                      <a:pt x="390658" y="1802124"/>
                    </a:lnTo>
                    <a:cubicBezTo>
                      <a:pt x="174937" y="1802124"/>
                      <a:pt x="0" y="1667709"/>
                      <a:pt x="0" y="1501754"/>
                    </a:cubicBezTo>
                    <a:close/>
                  </a:path>
                </a:pathLst>
              </a:custGeom>
              <a:solidFill>
                <a:srgbClr val="171D2A"/>
              </a:solidFill>
              <a:ln w="19065" cap="sq">
                <a:solidFill>
                  <a:srgbClr val="303A4E"/>
                </a:solidFill>
                <a:prstDash val="solid"/>
                <a:miter/>
              </a:ln>
            </p:spPr>
          </p:sp>
        </p:grpSp>
        <p:grpSp>
          <p:nvGrpSpPr>
            <p:cNvPr name="Group 7" id="7"/>
            <p:cNvGrpSpPr/>
            <p:nvPr/>
          </p:nvGrpSpPr>
          <p:grpSpPr>
            <a:xfrm rot="0">
              <a:off x="20025" y="12202"/>
              <a:ext cx="123379" cy="1717564"/>
              <a:chOff x="0" y="0"/>
              <a:chExt cx="177488" cy="2470810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177500" cy="2470785"/>
              </a:xfrm>
              <a:custGeom>
                <a:avLst/>
                <a:gdLst/>
                <a:ahLst/>
                <a:cxnLst/>
                <a:rect r="r" b="b" t="t" l="l"/>
                <a:pathLst>
                  <a:path h="2470785" w="177500">
                    <a:moveTo>
                      <a:pt x="0" y="0"/>
                    </a:moveTo>
                    <a:lnTo>
                      <a:pt x="177500" y="0"/>
                    </a:lnTo>
                    <a:lnTo>
                      <a:pt x="177500" y="2470785"/>
                    </a:lnTo>
                    <a:lnTo>
                      <a:pt x="0" y="2470785"/>
                    </a:lnTo>
                    <a:close/>
                  </a:path>
                </a:pathLst>
              </a:custGeom>
              <a:solidFill>
                <a:srgbClr val="5B8DEF"/>
              </a:solidFill>
            </p:spPr>
          </p:sp>
        </p:grpSp>
        <p:sp>
          <p:nvSpPr>
            <p:cNvPr name="TextBox 9" id="9"/>
            <p:cNvSpPr txBox="true"/>
            <p:nvPr/>
          </p:nvSpPr>
          <p:spPr>
            <a:xfrm rot="0">
              <a:off x="456790" y="365727"/>
              <a:ext cx="8758807" cy="4971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939"/>
                </a:lnSpc>
              </a:pPr>
              <a:r>
                <a:rPr lang="en-US" sz="2449" b="true">
                  <a:solidFill>
                    <a:srgbClr val="F1F5F9"/>
                  </a:solidFill>
                  <a:latin typeface="Aptos Bold"/>
                  <a:ea typeface="Aptos Bold"/>
                  <a:cs typeface="Aptos Bold"/>
                  <a:sym typeface="Aptos Bold"/>
                </a:rPr>
                <a:t>Linear Search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456790" y="862845"/>
              <a:ext cx="8758807" cy="75576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247"/>
                </a:lnSpc>
              </a:pPr>
              <a:r>
                <a:rPr lang="en-US" sz="1873">
                  <a:solidFill>
                    <a:srgbClr val="A6B1C3"/>
                  </a:solidFill>
                  <a:latin typeface="Aptos"/>
                  <a:ea typeface="Aptos"/>
                  <a:cs typeface="Aptos"/>
                  <a:sym typeface="Aptos"/>
                </a:rPr>
                <a:t>Traverse from the head node and compare each song title until a match is found.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86290" y="4067780"/>
            <a:ext cx="7172282" cy="1388307"/>
            <a:chOff x="0" y="0"/>
            <a:chExt cx="9563043" cy="1851076"/>
          </a:xfrm>
        </p:grpSpPr>
        <p:grpSp>
          <p:nvGrpSpPr>
            <p:cNvPr name="Group 12" id="12"/>
            <p:cNvGrpSpPr/>
            <p:nvPr/>
          </p:nvGrpSpPr>
          <p:grpSpPr>
            <a:xfrm rot="0">
              <a:off x="0" y="0"/>
              <a:ext cx="9563043" cy="1851076"/>
              <a:chOff x="0" y="0"/>
              <a:chExt cx="9963278" cy="1928548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9963219" cy="1928508"/>
              </a:xfrm>
              <a:custGeom>
                <a:avLst/>
                <a:gdLst/>
                <a:ahLst/>
                <a:cxnLst/>
                <a:rect r="r" b="b" t="t" l="l"/>
                <a:pathLst>
                  <a:path h="1928508" w="9963219">
                    <a:moveTo>
                      <a:pt x="0" y="321434"/>
                    </a:moveTo>
                    <a:cubicBezTo>
                      <a:pt x="0" y="143939"/>
                      <a:pt x="174447" y="0"/>
                      <a:pt x="389563" y="0"/>
                    </a:cubicBezTo>
                    <a:lnTo>
                      <a:pt x="9573656" y="0"/>
                    </a:lnTo>
                    <a:cubicBezTo>
                      <a:pt x="9788772" y="0"/>
                      <a:pt x="9963219" y="143939"/>
                      <a:pt x="9963219" y="321434"/>
                    </a:cubicBezTo>
                    <a:lnTo>
                      <a:pt x="9963219" y="1607074"/>
                    </a:lnTo>
                    <a:cubicBezTo>
                      <a:pt x="9963219" y="1784569"/>
                      <a:pt x="9788772" y="1928508"/>
                      <a:pt x="9573656" y="1928508"/>
                    </a:cubicBezTo>
                    <a:lnTo>
                      <a:pt x="389563" y="1928508"/>
                    </a:lnTo>
                    <a:cubicBezTo>
                      <a:pt x="174447" y="1928508"/>
                      <a:pt x="0" y="1784667"/>
                      <a:pt x="0" y="1607074"/>
                    </a:cubicBezTo>
                    <a:close/>
                  </a:path>
                </a:pathLst>
              </a:custGeom>
              <a:solidFill>
                <a:srgbClr val="171D2A"/>
              </a:solidFill>
              <a:ln w="19065" cap="sq">
                <a:solidFill>
                  <a:srgbClr val="303A4E"/>
                </a:solidFill>
                <a:prstDash val="solid"/>
                <a:miter/>
              </a:ln>
            </p:spPr>
          </p:sp>
        </p:grpSp>
        <p:grpSp>
          <p:nvGrpSpPr>
            <p:cNvPr name="Group 14" id="14"/>
            <p:cNvGrpSpPr/>
            <p:nvPr/>
          </p:nvGrpSpPr>
          <p:grpSpPr>
            <a:xfrm rot="0">
              <a:off x="11279" y="12202"/>
              <a:ext cx="131723" cy="1838874"/>
              <a:chOff x="0" y="0"/>
              <a:chExt cx="176990" cy="2470810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177003" cy="2470785"/>
              </a:xfrm>
              <a:custGeom>
                <a:avLst/>
                <a:gdLst/>
                <a:ahLst/>
                <a:cxnLst/>
                <a:rect r="r" b="b" t="t" l="l"/>
                <a:pathLst>
                  <a:path h="2470785" w="177003">
                    <a:moveTo>
                      <a:pt x="0" y="0"/>
                    </a:moveTo>
                    <a:lnTo>
                      <a:pt x="177003" y="0"/>
                    </a:lnTo>
                    <a:lnTo>
                      <a:pt x="177003" y="2470785"/>
                    </a:lnTo>
                    <a:lnTo>
                      <a:pt x="0" y="2470785"/>
                    </a:lnTo>
                    <a:close/>
                  </a:path>
                </a:pathLst>
              </a:custGeom>
              <a:solidFill>
                <a:srgbClr val="5CD3AA"/>
              </a:solidFill>
            </p:spPr>
          </p:sp>
        </p:grpSp>
        <p:sp>
          <p:nvSpPr>
            <p:cNvPr name="TextBox 16" id="16"/>
            <p:cNvSpPr txBox="true"/>
            <p:nvPr/>
          </p:nvSpPr>
          <p:spPr>
            <a:xfrm rot="0">
              <a:off x="455499" y="365727"/>
              <a:ext cx="8734259" cy="4971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939"/>
                </a:lnSpc>
              </a:pPr>
              <a:r>
                <a:rPr lang="en-US" sz="2449" b="true">
                  <a:solidFill>
                    <a:srgbClr val="F1F5F9"/>
                  </a:solidFill>
                  <a:latin typeface="Aptos Bold"/>
                  <a:ea typeface="Aptos Bold"/>
                  <a:cs typeface="Aptos Bold"/>
                  <a:sym typeface="Aptos Bold"/>
                </a:rPr>
                <a:t>Next / Previous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455499" y="982355"/>
              <a:ext cx="8734259" cy="75576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247"/>
                </a:lnSpc>
              </a:pPr>
              <a:r>
                <a:rPr lang="en-US" sz="1873">
                  <a:solidFill>
                    <a:srgbClr val="A6B1C3"/>
                  </a:solidFill>
                  <a:latin typeface="Aptos"/>
                  <a:ea typeface="Aptos"/>
                  <a:cs typeface="Aptos"/>
                  <a:sym typeface="Aptos"/>
                </a:rPr>
                <a:t>Move the current pointer through next or prev links; each move is constant-time.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28700" y="7163955"/>
            <a:ext cx="7249994" cy="1328443"/>
            <a:chOff x="0" y="0"/>
            <a:chExt cx="9666658" cy="1771257"/>
          </a:xfrm>
        </p:grpSpPr>
        <p:grpSp>
          <p:nvGrpSpPr>
            <p:cNvPr name="Group 19" id="19"/>
            <p:cNvGrpSpPr/>
            <p:nvPr/>
          </p:nvGrpSpPr>
          <p:grpSpPr>
            <a:xfrm rot="0">
              <a:off x="0" y="0"/>
              <a:ext cx="9666658" cy="1771257"/>
              <a:chOff x="0" y="0"/>
              <a:chExt cx="10071229" cy="1845388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10071170" cy="1845351"/>
              </a:xfrm>
              <a:custGeom>
                <a:avLst/>
                <a:gdLst/>
                <a:ahLst/>
                <a:cxnLst/>
                <a:rect r="r" b="b" t="t" l="l"/>
                <a:pathLst>
                  <a:path h="1845351" w="10071170">
                    <a:moveTo>
                      <a:pt x="0" y="307574"/>
                    </a:moveTo>
                    <a:cubicBezTo>
                      <a:pt x="0" y="137732"/>
                      <a:pt x="176337" y="0"/>
                      <a:pt x="393783" y="0"/>
                    </a:cubicBezTo>
                    <a:lnTo>
                      <a:pt x="9677386" y="0"/>
                    </a:lnTo>
                    <a:cubicBezTo>
                      <a:pt x="9894832" y="0"/>
                      <a:pt x="10071170" y="137732"/>
                      <a:pt x="10071170" y="307574"/>
                    </a:cubicBezTo>
                    <a:lnTo>
                      <a:pt x="10071170" y="1537777"/>
                    </a:lnTo>
                    <a:cubicBezTo>
                      <a:pt x="10071170" y="1707618"/>
                      <a:pt x="9894832" y="1845351"/>
                      <a:pt x="9677386" y="1845351"/>
                    </a:cubicBezTo>
                    <a:lnTo>
                      <a:pt x="393783" y="1845351"/>
                    </a:lnTo>
                    <a:cubicBezTo>
                      <a:pt x="176337" y="1845351"/>
                      <a:pt x="0" y="1707712"/>
                      <a:pt x="0" y="1537777"/>
                    </a:cubicBezTo>
                    <a:close/>
                  </a:path>
                </a:pathLst>
              </a:custGeom>
              <a:solidFill>
                <a:srgbClr val="171D2A"/>
              </a:solidFill>
              <a:ln w="19065" cap="sq">
                <a:solidFill>
                  <a:srgbClr val="303A4E"/>
                </a:solidFill>
                <a:prstDash val="solid"/>
                <a:miter/>
              </a:ln>
            </p:spPr>
          </p:sp>
        </p:grpSp>
        <p:grpSp>
          <p:nvGrpSpPr>
            <p:cNvPr name="Group 21" id="21"/>
            <p:cNvGrpSpPr/>
            <p:nvPr/>
          </p:nvGrpSpPr>
          <p:grpSpPr>
            <a:xfrm rot="0">
              <a:off x="17181" y="12202"/>
              <a:ext cx="127371" cy="1759055"/>
              <a:chOff x="0" y="0"/>
              <a:chExt cx="178908" cy="2470810"/>
            </a:xfrm>
          </p:grpSpPr>
          <p:sp>
            <p:nvSpPr>
              <p:cNvPr name="Freeform 22" id="22"/>
              <p:cNvSpPr/>
              <p:nvPr/>
            </p:nvSpPr>
            <p:spPr>
              <a:xfrm flipH="false" flipV="false" rot="0">
                <a:off x="0" y="0"/>
                <a:ext cx="178921" cy="2470785"/>
              </a:xfrm>
              <a:custGeom>
                <a:avLst/>
                <a:gdLst/>
                <a:ahLst/>
                <a:cxnLst/>
                <a:rect r="r" b="b" t="t" l="l"/>
                <a:pathLst>
                  <a:path h="2470785" w="178921">
                    <a:moveTo>
                      <a:pt x="0" y="0"/>
                    </a:moveTo>
                    <a:lnTo>
                      <a:pt x="178921" y="0"/>
                    </a:lnTo>
                    <a:lnTo>
                      <a:pt x="178921" y="2470785"/>
                    </a:lnTo>
                    <a:lnTo>
                      <a:pt x="0" y="2470785"/>
                    </a:lnTo>
                    <a:close/>
                  </a:path>
                </a:pathLst>
              </a:custGeom>
              <a:solidFill>
                <a:srgbClr val="F7AA4E"/>
              </a:solidFill>
            </p:spPr>
          </p:sp>
        </p:grpSp>
        <p:sp>
          <p:nvSpPr>
            <p:cNvPr name="TextBox 23" id="23"/>
            <p:cNvSpPr txBox="true"/>
            <p:nvPr/>
          </p:nvSpPr>
          <p:spPr>
            <a:xfrm rot="0">
              <a:off x="460446" y="365714"/>
              <a:ext cx="8828894" cy="4971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939"/>
                </a:lnSpc>
              </a:pPr>
              <a:r>
                <a:rPr lang="en-US" sz="2449" b="true">
                  <a:solidFill>
                    <a:srgbClr val="F1F5F9"/>
                  </a:solidFill>
                  <a:latin typeface="Aptos Bold"/>
                  <a:ea typeface="Aptos Bold"/>
                  <a:cs typeface="Aptos Bold"/>
                  <a:sym typeface="Aptos Bold"/>
                </a:rPr>
                <a:t>Insertion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460446" y="1218471"/>
              <a:ext cx="8828894" cy="3778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247"/>
                </a:lnSpc>
              </a:pPr>
              <a:r>
                <a:rPr lang="en-US" sz="1873">
                  <a:solidFill>
                    <a:srgbClr val="A6B1C3"/>
                  </a:solidFill>
                  <a:latin typeface="Aptos"/>
                  <a:ea typeface="Aptos"/>
                  <a:cs typeface="Aptos"/>
                  <a:sym typeface="Aptos"/>
                </a:rPr>
                <a:t>Create a new node and connect it to the tail of the active playlist.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064082" y="5607665"/>
            <a:ext cx="7236856" cy="1403891"/>
            <a:chOff x="0" y="0"/>
            <a:chExt cx="9649142" cy="1871854"/>
          </a:xfrm>
        </p:grpSpPr>
        <p:grpSp>
          <p:nvGrpSpPr>
            <p:cNvPr name="Group 26" id="26"/>
            <p:cNvGrpSpPr/>
            <p:nvPr/>
          </p:nvGrpSpPr>
          <p:grpSpPr>
            <a:xfrm rot="0">
              <a:off x="0" y="0"/>
              <a:ext cx="9649142" cy="1871854"/>
              <a:chOff x="0" y="0"/>
              <a:chExt cx="10052980" cy="1950195"/>
            </a:xfrm>
          </p:grpSpPr>
          <p:sp>
            <p:nvSpPr>
              <p:cNvPr name="Freeform 27" id="27"/>
              <p:cNvSpPr/>
              <p:nvPr/>
            </p:nvSpPr>
            <p:spPr>
              <a:xfrm flipH="false" flipV="false" rot="0">
                <a:off x="0" y="0"/>
                <a:ext cx="10052920" cy="1950155"/>
              </a:xfrm>
              <a:custGeom>
                <a:avLst/>
                <a:gdLst/>
                <a:ahLst/>
                <a:cxnLst/>
                <a:rect r="r" b="b" t="t" l="l"/>
                <a:pathLst>
                  <a:path h="1950155" w="10052920">
                    <a:moveTo>
                      <a:pt x="0" y="325042"/>
                    </a:moveTo>
                    <a:cubicBezTo>
                      <a:pt x="0" y="145555"/>
                      <a:pt x="176018" y="0"/>
                      <a:pt x="393070" y="0"/>
                    </a:cubicBezTo>
                    <a:lnTo>
                      <a:pt x="9659850" y="0"/>
                    </a:lnTo>
                    <a:cubicBezTo>
                      <a:pt x="9876903" y="0"/>
                      <a:pt x="10052920" y="145555"/>
                      <a:pt x="10052920" y="325042"/>
                    </a:cubicBezTo>
                    <a:lnTo>
                      <a:pt x="10052920" y="1625113"/>
                    </a:lnTo>
                    <a:cubicBezTo>
                      <a:pt x="10052920" y="1804601"/>
                      <a:pt x="9876903" y="1950155"/>
                      <a:pt x="9659850" y="1950155"/>
                    </a:cubicBezTo>
                    <a:lnTo>
                      <a:pt x="393070" y="1950155"/>
                    </a:lnTo>
                    <a:cubicBezTo>
                      <a:pt x="176018" y="1950156"/>
                      <a:pt x="0" y="1804700"/>
                      <a:pt x="0" y="1625113"/>
                    </a:cubicBezTo>
                    <a:close/>
                  </a:path>
                </a:pathLst>
              </a:custGeom>
              <a:solidFill>
                <a:srgbClr val="171D2A"/>
              </a:solidFill>
              <a:ln w="19065" cap="sq">
                <a:solidFill>
                  <a:srgbClr val="303A4E"/>
                </a:solidFill>
                <a:prstDash val="solid"/>
                <a:miter/>
              </a:ln>
            </p:spPr>
          </p:sp>
        </p:grpSp>
        <p:grpSp>
          <p:nvGrpSpPr>
            <p:cNvPr name="Group 28" id="28"/>
            <p:cNvGrpSpPr/>
            <p:nvPr/>
          </p:nvGrpSpPr>
          <p:grpSpPr>
            <a:xfrm rot="0">
              <a:off x="9879" y="12202"/>
              <a:ext cx="134411" cy="1859652"/>
              <a:chOff x="0" y="0"/>
              <a:chExt cx="178584" cy="2470810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178596" cy="2470785"/>
              </a:xfrm>
              <a:custGeom>
                <a:avLst/>
                <a:gdLst/>
                <a:ahLst/>
                <a:cxnLst/>
                <a:rect r="r" b="b" t="t" l="l"/>
                <a:pathLst>
                  <a:path h="2470785" w="178596">
                    <a:moveTo>
                      <a:pt x="0" y="0"/>
                    </a:moveTo>
                    <a:lnTo>
                      <a:pt x="178596" y="0"/>
                    </a:lnTo>
                    <a:lnTo>
                      <a:pt x="178596" y="2470785"/>
                    </a:lnTo>
                    <a:lnTo>
                      <a:pt x="0" y="2470785"/>
                    </a:lnTo>
                    <a:close/>
                  </a:path>
                </a:pathLst>
              </a:custGeom>
              <a:solidFill>
                <a:srgbClr val="EF6969"/>
              </a:solidFill>
            </p:spPr>
          </p:sp>
        </p:grpSp>
        <p:sp>
          <p:nvSpPr>
            <p:cNvPr name="TextBox 30" id="30"/>
            <p:cNvSpPr txBox="true"/>
            <p:nvPr/>
          </p:nvSpPr>
          <p:spPr>
            <a:xfrm rot="0">
              <a:off x="459600" y="365714"/>
              <a:ext cx="8812895" cy="4971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939"/>
                </a:lnSpc>
              </a:pPr>
              <a:r>
                <a:rPr lang="en-US" sz="2449" b="true">
                  <a:solidFill>
                    <a:srgbClr val="F1F5F9"/>
                  </a:solidFill>
                  <a:latin typeface="Aptos Bold"/>
                  <a:ea typeface="Aptos Bold"/>
                  <a:cs typeface="Aptos Bold"/>
                  <a:sym typeface="Aptos Bold"/>
                </a:rPr>
                <a:t>Deletion</a:t>
              </a:r>
            </a:p>
          </p:txBody>
        </p:sp>
        <p:sp>
          <p:nvSpPr>
            <p:cNvPr name="TextBox 31" id="31"/>
            <p:cNvSpPr txBox="true"/>
            <p:nvPr/>
          </p:nvSpPr>
          <p:spPr>
            <a:xfrm rot="0">
              <a:off x="459600" y="995333"/>
              <a:ext cx="8812895" cy="75576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247"/>
                </a:lnSpc>
              </a:pPr>
              <a:r>
                <a:rPr lang="en-US" sz="1873">
                  <a:solidFill>
                    <a:srgbClr val="A6B1C3"/>
                  </a:solidFill>
                  <a:latin typeface="Aptos"/>
                  <a:ea typeface="Aptos"/>
                  <a:cs typeface="Aptos"/>
                  <a:sym typeface="Aptos"/>
                </a:rPr>
                <a:t>Reconnect neighboring nodes, then release the removed node from memory.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1028700" y="8936836"/>
            <a:ext cx="7661463" cy="642928"/>
            <a:chOff x="0" y="0"/>
            <a:chExt cx="10215284" cy="857238"/>
          </a:xfrm>
        </p:grpSpPr>
        <p:sp>
          <p:nvSpPr>
            <p:cNvPr name="TextBox 33" id="33"/>
            <p:cNvSpPr txBox="true"/>
            <p:nvPr/>
          </p:nvSpPr>
          <p:spPr>
            <a:xfrm rot="0">
              <a:off x="0" y="43184"/>
              <a:ext cx="1721600" cy="81405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420"/>
                </a:lnSpc>
              </a:pPr>
              <a:r>
                <a:rPr lang="en-US" sz="2017" b="true">
                  <a:solidFill>
                    <a:srgbClr val="F1F5F9"/>
                  </a:solidFill>
                  <a:latin typeface="Aptos Bold"/>
                  <a:ea typeface="Aptos Bold"/>
                  <a:cs typeface="Aptos Bold"/>
                  <a:sym typeface="Aptos Bold"/>
                </a:rPr>
                <a:t>Why no sorting?</a:t>
              </a:r>
            </a:p>
          </p:txBody>
        </p:sp>
        <p:sp>
          <p:nvSpPr>
            <p:cNvPr name="TextBox 34" id="34"/>
            <p:cNvSpPr txBox="true"/>
            <p:nvPr/>
          </p:nvSpPr>
          <p:spPr>
            <a:xfrm rot="0">
              <a:off x="1554685" y="-9525"/>
              <a:ext cx="8660599" cy="81405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420"/>
                </a:lnSpc>
              </a:pPr>
              <a:r>
                <a:rPr lang="en-US" sz="2017">
                  <a:solidFill>
                    <a:srgbClr val="A6B1C3"/>
                  </a:solidFill>
                  <a:latin typeface="Aptos"/>
                  <a:ea typeface="Aptos"/>
                  <a:cs typeface="Aptos"/>
                  <a:sym typeface="Aptos"/>
                </a:rPr>
                <a:t>Sorting is not required for the core playlist-navigation use case; linear search is sufficient for the project.</a:t>
              </a:r>
            </a:p>
          </p:txBody>
        </p:sp>
      </p:grpSp>
      <p:sp>
        <p:nvSpPr>
          <p:cNvPr name="TextBox 35" id="35"/>
          <p:cNvSpPr txBox="true"/>
          <p:nvPr/>
        </p:nvSpPr>
        <p:spPr>
          <a:xfrm rot="0">
            <a:off x="10401103" y="801126"/>
            <a:ext cx="2274588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5B8DEF"/>
                </a:solidFill>
                <a:latin typeface="Aptos Bold"/>
                <a:ea typeface="Aptos Bold"/>
                <a:cs typeface="Aptos Bold"/>
                <a:sym typeface="Aptos Bold"/>
              </a:rPr>
              <a:t>05 • IMPLEMENTATION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0401103" y="1039251"/>
            <a:ext cx="4093123" cy="647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320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Implementation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0401103" y="1882467"/>
            <a:ext cx="6754808" cy="314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3"/>
              </a:lnSpc>
            </a:pPr>
            <a:r>
              <a:rPr lang="en-US" sz="2019">
                <a:solidFill>
                  <a:srgbClr val="A6B1C3"/>
                </a:solidFill>
                <a:latin typeface="Aptos"/>
                <a:ea typeface="Aptos"/>
                <a:cs typeface="Aptos"/>
                <a:sym typeface="Aptos"/>
              </a:rPr>
              <a:t>The project is intentionally contained in a single C source file.</a:t>
            </a:r>
          </a:p>
        </p:txBody>
      </p:sp>
      <p:grpSp>
        <p:nvGrpSpPr>
          <p:cNvPr name="Group 38" id="38"/>
          <p:cNvGrpSpPr/>
          <p:nvPr/>
        </p:nvGrpSpPr>
        <p:grpSpPr>
          <a:xfrm rot="0">
            <a:off x="10723099" y="2618055"/>
            <a:ext cx="6536201" cy="1946342"/>
            <a:chOff x="0" y="0"/>
            <a:chExt cx="8714934" cy="2595123"/>
          </a:xfrm>
        </p:grpSpPr>
        <p:grpSp>
          <p:nvGrpSpPr>
            <p:cNvPr name="Group 39" id="39"/>
            <p:cNvGrpSpPr/>
            <p:nvPr/>
          </p:nvGrpSpPr>
          <p:grpSpPr>
            <a:xfrm rot="0">
              <a:off x="20791" y="0"/>
              <a:ext cx="8694143" cy="2595123"/>
              <a:chOff x="0" y="0"/>
              <a:chExt cx="14791814" cy="4415222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14791705" cy="4415116"/>
              </a:xfrm>
              <a:custGeom>
                <a:avLst/>
                <a:gdLst/>
                <a:ahLst/>
                <a:cxnLst/>
                <a:rect r="r" b="b" t="t" l="l"/>
                <a:pathLst>
                  <a:path h="4415116" w="14791705">
                    <a:moveTo>
                      <a:pt x="0" y="735853"/>
                    </a:moveTo>
                    <a:cubicBezTo>
                      <a:pt x="0" y="329514"/>
                      <a:pt x="590665" y="0"/>
                      <a:pt x="1319042" y="0"/>
                    </a:cubicBezTo>
                    <a:lnTo>
                      <a:pt x="13472663" y="0"/>
                    </a:lnTo>
                    <a:cubicBezTo>
                      <a:pt x="14201311" y="0"/>
                      <a:pt x="14791705" y="329514"/>
                      <a:pt x="14791705" y="735853"/>
                    </a:cubicBezTo>
                    <a:lnTo>
                      <a:pt x="14791705" y="3679263"/>
                    </a:lnTo>
                    <a:cubicBezTo>
                      <a:pt x="14791705" y="4085754"/>
                      <a:pt x="14201040" y="4415116"/>
                      <a:pt x="13472663" y="4415116"/>
                    </a:cubicBezTo>
                    <a:lnTo>
                      <a:pt x="1319042" y="4415116"/>
                    </a:lnTo>
                    <a:cubicBezTo>
                      <a:pt x="590665" y="4415261"/>
                      <a:pt x="0" y="4085754"/>
                      <a:pt x="0" y="3679263"/>
                    </a:cubicBezTo>
                    <a:close/>
                  </a:path>
                </a:pathLst>
              </a:custGeom>
              <a:solidFill>
                <a:srgbClr val="171D2A"/>
              </a:solidFill>
              <a:ln w="19065" cap="sq">
                <a:solidFill>
                  <a:srgbClr val="303A4E"/>
                </a:solidFill>
                <a:prstDash val="solid"/>
                <a:miter/>
              </a:ln>
            </p:spPr>
          </p:sp>
        </p:grpSp>
        <p:grpSp>
          <p:nvGrpSpPr>
            <p:cNvPr name="Group 41" id="41"/>
            <p:cNvGrpSpPr/>
            <p:nvPr/>
          </p:nvGrpSpPr>
          <p:grpSpPr>
            <a:xfrm rot="0">
              <a:off x="0" y="7472"/>
              <a:ext cx="221610" cy="2580179"/>
              <a:chOff x="0" y="0"/>
              <a:chExt cx="314394" cy="3660458"/>
            </a:xfrm>
          </p:grpSpPr>
          <p:sp>
            <p:nvSpPr>
              <p:cNvPr name="Freeform 42" id="42"/>
              <p:cNvSpPr/>
              <p:nvPr/>
            </p:nvSpPr>
            <p:spPr>
              <a:xfrm flipH="false" flipV="false" rot="0">
                <a:off x="0" y="0"/>
                <a:ext cx="314407" cy="3660521"/>
              </a:xfrm>
              <a:custGeom>
                <a:avLst/>
                <a:gdLst/>
                <a:ahLst/>
                <a:cxnLst/>
                <a:rect r="r" b="b" t="t" l="l"/>
                <a:pathLst>
                  <a:path h="3660521" w="314407">
                    <a:moveTo>
                      <a:pt x="0" y="0"/>
                    </a:moveTo>
                    <a:lnTo>
                      <a:pt x="314407" y="0"/>
                    </a:lnTo>
                    <a:lnTo>
                      <a:pt x="314407" y="3660521"/>
                    </a:lnTo>
                    <a:lnTo>
                      <a:pt x="0" y="3660521"/>
                    </a:lnTo>
                    <a:close/>
                  </a:path>
                </a:pathLst>
              </a:custGeom>
              <a:solidFill>
                <a:srgbClr val="5B8DEF"/>
              </a:solidFill>
            </p:spPr>
          </p:sp>
        </p:grpSp>
        <p:sp>
          <p:nvSpPr>
            <p:cNvPr name="TextBox 43" id="43"/>
            <p:cNvSpPr txBox="true"/>
            <p:nvPr/>
          </p:nvSpPr>
          <p:spPr>
            <a:xfrm rot="0">
              <a:off x="660465" y="229792"/>
              <a:ext cx="7530295" cy="495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940"/>
                </a:lnSpc>
              </a:pPr>
              <a:r>
                <a:rPr lang="en-US" sz="2450" b="true">
                  <a:solidFill>
                    <a:srgbClr val="F1F5F9"/>
                  </a:solidFill>
                  <a:latin typeface="Aptos Bold"/>
                  <a:ea typeface="Aptos Bold"/>
                  <a:cs typeface="Aptos Bold"/>
                  <a:sym typeface="Aptos Bold"/>
                </a:rPr>
                <a:t>Song Node</a:t>
              </a:r>
            </a:p>
          </p:txBody>
        </p:sp>
        <p:sp>
          <p:nvSpPr>
            <p:cNvPr name="TextBox 44" id="44"/>
            <p:cNvSpPr txBox="true"/>
            <p:nvPr/>
          </p:nvSpPr>
          <p:spPr>
            <a:xfrm rot="0">
              <a:off x="660465" y="746151"/>
              <a:ext cx="7530295" cy="1841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243"/>
                </a:lnSpc>
              </a:pPr>
              <a:r>
                <a:rPr lang="en-US" sz="1869">
                  <a:solidFill>
                    <a:srgbClr val="A6B1C3"/>
                  </a:solidFill>
                  <a:latin typeface="Aptos"/>
                  <a:ea typeface="Aptos"/>
                  <a:cs typeface="Aptos"/>
                  <a:sym typeface="Aptos"/>
                </a:rPr>
                <a:t>title</a:t>
              </a:r>
            </a:p>
            <a:p>
              <a:pPr algn="l">
                <a:lnSpc>
                  <a:spcPts val="2243"/>
                </a:lnSpc>
              </a:pPr>
              <a:r>
                <a:rPr lang="en-US" sz="1869">
                  <a:solidFill>
                    <a:srgbClr val="A6B1C3"/>
                  </a:solidFill>
                  <a:latin typeface="Aptos"/>
                  <a:ea typeface="Aptos"/>
                  <a:cs typeface="Aptos"/>
                  <a:sym typeface="Aptos"/>
                </a:rPr>
                <a:t>artist</a:t>
              </a:r>
            </a:p>
            <a:p>
              <a:pPr algn="l">
                <a:lnSpc>
                  <a:spcPts val="2243"/>
                </a:lnSpc>
              </a:pPr>
              <a:r>
                <a:rPr lang="en-US" sz="1869">
                  <a:solidFill>
                    <a:srgbClr val="A6B1C3"/>
                  </a:solidFill>
                  <a:latin typeface="Aptos"/>
                  <a:ea typeface="Aptos"/>
                  <a:cs typeface="Aptos"/>
                  <a:sym typeface="Aptos"/>
                </a:rPr>
                <a:t>duration</a:t>
              </a:r>
            </a:p>
            <a:p>
              <a:pPr algn="l">
                <a:lnSpc>
                  <a:spcPts val="2243"/>
                </a:lnSpc>
              </a:pPr>
              <a:r>
                <a:rPr lang="en-US" sz="1869">
                  <a:solidFill>
                    <a:srgbClr val="A6B1C3"/>
                  </a:solidFill>
                  <a:latin typeface="Aptos"/>
                  <a:ea typeface="Aptos"/>
                  <a:cs typeface="Aptos"/>
                  <a:sym typeface="Aptos"/>
                </a:rPr>
                <a:t>prev pointer</a:t>
              </a:r>
            </a:p>
            <a:p>
              <a:pPr algn="l">
                <a:lnSpc>
                  <a:spcPts val="2243"/>
                </a:lnSpc>
              </a:pPr>
              <a:r>
                <a:rPr lang="en-US" sz="1869">
                  <a:solidFill>
                    <a:srgbClr val="A6B1C3"/>
                  </a:solidFill>
                  <a:latin typeface="Aptos"/>
                  <a:ea typeface="Aptos"/>
                  <a:cs typeface="Aptos"/>
                  <a:sym typeface="Aptos"/>
                </a:rPr>
                <a:t>next pointer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10723099" y="4804059"/>
            <a:ext cx="6536201" cy="1624831"/>
            <a:chOff x="0" y="0"/>
            <a:chExt cx="8714934" cy="2166441"/>
          </a:xfrm>
        </p:grpSpPr>
        <p:grpSp>
          <p:nvGrpSpPr>
            <p:cNvPr name="Group 46" id="46"/>
            <p:cNvGrpSpPr/>
            <p:nvPr/>
          </p:nvGrpSpPr>
          <p:grpSpPr>
            <a:xfrm rot="0">
              <a:off x="0" y="0"/>
              <a:ext cx="8714934" cy="2166441"/>
              <a:chOff x="0" y="0"/>
              <a:chExt cx="14827186" cy="3685883"/>
            </a:xfrm>
          </p:grpSpPr>
          <p:sp>
            <p:nvSpPr>
              <p:cNvPr name="Freeform 47" id="47"/>
              <p:cNvSpPr/>
              <p:nvPr/>
            </p:nvSpPr>
            <p:spPr>
              <a:xfrm flipH="false" flipV="false" rot="0">
                <a:off x="0" y="0"/>
                <a:ext cx="14827076" cy="3685794"/>
              </a:xfrm>
              <a:custGeom>
                <a:avLst/>
                <a:gdLst/>
                <a:ahLst/>
                <a:cxnLst/>
                <a:rect r="r" b="b" t="t" l="l"/>
                <a:pathLst>
                  <a:path h="3685794" w="14827076">
                    <a:moveTo>
                      <a:pt x="0" y="614299"/>
                    </a:moveTo>
                    <a:cubicBezTo>
                      <a:pt x="0" y="275082"/>
                      <a:pt x="592077" y="0"/>
                      <a:pt x="1322196" y="0"/>
                    </a:cubicBezTo>
                    <a:lnTo>
                      <a:pt x="13504881" y="0"/>
                    </a:lnTo>
                    <a:cubicBezTo>
                      <a:pt x="14235272" y="0"/>
                      <a:pt x="14827076" y="275082"/>
                      <a:pt x="14827076" y="614299"/>
                    </a:cubicBezTo>
                    <a:lnTo>
                      <a:pt x="14827076" y="3071495"/>
                    </a:lnTo>
                    <a:cubicBezTo>
                      <a:pt x="14827076" y="3410839"/>
                      <a:pt x="14235001" y="3685794"/>
                      <a:pt x="13504881" y="3685794"/>
                    </a:cubicBezTo>
                    <a:lnTo>
                      <a:pt x="1322196" y="3685794"/>
                    </a:lnTo>
                    <a:cubicBezTo>
                      <a:pt x="592077" y="3685921"/>
                      <a:pt x="0" y="3410839"/>
                      <a:pt x="0" y="3071495"/>
                    </a:cubicBezTo>
                    <a:close/>
                  </a:path>
                </a:pathLst>
              </a:custGeom>
              <a:solidFill>
                <a:srgbClr val="171D2A"/>
              </a:solidFill>
              <a:ln w="19065" cap="sq">
                <a:solidFill>
                  <a:srgbClr val="303A4E"/>
                </a:solidFill>
                <a:prstDash val="solid"/>
                <a:miter/>
              </a:ln>
            </p:spPr>
          </p:sp>
        </p:grpSp>
        <p:grpSp>
          <p:nvGrpSpPr>
            <p:cNvPr name="Group 48" id="48"/>
            <p:cNvGrpSpPr/>
            <p:nvPr/>
          </p:nvGrpSpPr>
          <p:grpSpPr>
            <a:xfrm rot="0">
              <a:off x="16083" y="7472"/>
              <a:ext cx="185232" cy="2151497"/>
              <a:chOff x="0" y="0"/>
              <a:chExt cx="315146" cy="3660458"/>
            </a:xfrm>
          </p:grpSpPr>
          <p:sp>
            <p:nvSpPr>
              <p:cNvPr name="Freeform 49" id="49"/>
              <p:cNvSpPr/>
              <p:nvPr/>
            </p:nvSpPr>
            <p:spPr>
              <a:xfrm flipH="false" flipV="false" rot="0">
                <a:off x="0" y="0"/>
                <a:ext cx="315158" cy="3660521"/>
              </a:xfrm>
              <a:custGeom>
                <a:avLst/>
                <a:gdLst/>
                <a:ahLst/>
                <a:cxnLst/>
                <a:rect r="r" b="b" t="t" l="l"/>
                <a:pathLst>
                  <a:path h="3660521" w="315158">
                    <a:moveTo>
                      <a:pt x="0" y="0"/>
                    </a:moveTo>
                    <a:lnTo>
                      <a:pt x="315158" y="0"/>
                    </a:lnTo>
                    <a:lnTo>
                      <a:pt x="315158" y="3660521"/>
                    </a:lnTo>
                    <a:lnTo>
                      <a:pt x="0" y="3660521"/>
                    </a:lnTo>
                    <a:close/>
                  </a:path>
                </a:pathLst>
              </a:custGeom>
              <a:solidFill>
                <a:srgbClr val="F7AA4E"/>
              </a:solidFill>
            </p:spPr>
          </p:sp>
        </p:grpSp>
        <p:sp>
          <p:nvSpPr>
            <p:cNvPr name="TextBox 50" id="50"/>
            <p:cNvSpPr txBox="true"/>
            <p:nvPr/>
          </p:nvSpPr>
          <p:spPr>
            <a:xfrm rot="0">
              <a:off x="641204" y="229792"/>
              <a:ext cx="7548303" cy="495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940"/>
                </a:lnSpc>
              </a:pPr>
              <a:r>
                <a:rPr lang="en-US" sz="2450" b="true">
                  <a:solidFill>
                    <a:srgbClr val="F1F5F9"/>
                  </a:solidFill>
                  <a:latin typeface="Aptos Bold"/>
                  <a:ea typeface="Aptos Bold"/>
                  <a:cs typeface="Aptos Bold"/>
                  <a:sym typeface="Aptos Bold"/>
                </a:rPr>
                <a:t>CSV Handling</a:t>
              </a:r>
            </a:p>
          </p:txBody>
        </p:sp>
        <p:sp>
          <p:nvSpPr>
            <p:cNvPr name="TextBox 51" id="51"/>
            <p:cNvSpPr txBox="true"/>
            <p:nvPr/>
          </p:nvSpPr>
          <p:spPr>
            <a:xfrm rot="0">
              <a:off x="583316" y="912682"/>
              <a:ext cx="7548303" cy="736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243"/>
                </a:lnSpc>
              </a:pPr>
              <a:r>
                <a:rPr lang="en-US" sz="1869">
                  <a:solidFill>
                    <a:srgbClr val="A6B1C3"/>
                  </a:solidFill>
                  <a:latin typeface="Aptos"/>
                  <a:ea typeface="Aptos"/>
                  <a:cs typeface="Aptos"/>
                  <a:sym typeface="Aptos"/>
                </a:rPr>
                <a:t>Reads playlist records, skips blank rows and ignores invalid NA title records.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10738693" y="6668552"/>
            <a:ext cx="6520607" cy="1624831"/>
            <a:chOff x="0" y="0"/>
            <a:chExt cx="8694143" cy="2166441"/>
          </a:xfrm>
        </p:grpSpPr>
        <p:grpSp>
          <p:nvGrpSpPr>
            <p:cNvPr name="Group 53" id="53"/>
            <p:cNvGrpSpPr/>
            <p:nvPr/>
          </p:nvGrpSpPr>
          <p:grpSpPr>
            <a:xfrm rot="0">
              <a:off x="0" y="0"/>
              <a:ext cx="8694143" cy="2166441"/>
              <a:chOff x="0" y="0"/>
              <a:chExt cx="14791814" cy="3685883"/>
            </a:xfrm>
          </p:grpSpPr>
          <p:sp>
            <p:nvSpPr>
              <p:cNvPr name="Freeform 54" id="54"/>
              <p:cNvSpPr/>
              <p:nvPr/>
            </p:nvSpPr>
            <p:spPr>
              <a:xfrm flipH="false" flipV="false" rot="0">
                <a:off x="0" y="0"/>
                <a:ext cx="14791705" cy="3685794"/>
              </a:xfrm>
              <a:custGeom>
                <a:avLst/>
                <a:gdLst/>
                <a:ahLst/>
                <a:cxnLst/>
                <a:rect r="r" b="b" t="t" l="l"/>
                <a:pathLst>
                  <a:path h="3685794" w="14791705">
                    <a:moveTo>
                      <a:pt x="0" y="614299"/>
                    </a:moveTo>
                    <a:cubicBezTo>
                      <a:pt x="0" y="275082"/>
                      <a:pt x="590665" y="0"/>
                      <a:pt x="1319042" y="0"/>
                    </a:cubicBezTo>
                    <a:lnTo>
                      <a:pt x="13472663" y="0"/>
                    </a:lnTo>
                    <a:cubicBezTo>
                      <a:pt x="14201311" y="0"/>
                      <a:pt x="14791705" y="275082"/>
                      <a:pt x="14791705" y="614299"/>
                    </a:cubicBezTo>
                    <a:lnTo>
                      <a:pt x="14791705" y="3071495"/>
                    </a:lnTo>
                    <a:cubicBezTo>
                      <a:pt x="14791705" y="3410839"/>
                      <a:pt x="14201040" y="3685794"/>
                      <a:pt x="13472663" y="3685794"/>
                    </a:cubicBezTo>
                    <a:lnTo>
                      <a:pt x="1319042" y="3685794"/>
                    </a:lnTo>
                    <a:cubicBezTo>
                      <a:pt x="590665" y="3685921"/>
                      <a:pt x="0" y="3410839"/>
                      <a:pt x="0" y="3071495"/>
                    </a:cubicBezTo>
                    <a:close/>
                  </a:path>
                </a:pathLst>
              </a:custGeom>
              <a:solidFill>
                <a:srgbClr val="171D2A"/>
              </a:solidFill>
              <a:ln w="19065" cap="sq">
                <a:solidFill>
                  <a:srgbClr val="303A4E"/>
                </a:solidFill>
                <a:prstDash val="solid"/>
                <a:miter/>
              </a:ln>
            </p:spPr>
          </p:sp>
        </p:grpSp>
        <p:grpSp>
          <p:nvGrpSpPr>
            <p:cNvPr name="Group 55" id="55"/>
            <p:cNvGrpSpPr/>
            <p:nvPr/>
          </p:nvGrpSpPr>
          <p:grpSpPr>
            <a:xfrm rot="0">
              <a:off x="16044" y="7472"/>
              <a:ext cx="184790" cy="2151497"/>
              <a:chOff x="0" y="0"/>
              <a:chExt cx="314394" cy="3660458"/>
            </a:xfrm>
          </p:grpSpPr>
          <p:sp>
            <p:nvSpPr>
              <p:cNvPr name="Freeform 56" id="56"/>
              <p:cNvSpPr/>
              <p:nvPr/>
            </p:nvSpPr>
            <p:spPr>
              <a:xfrm flipH="false" flipV="false" rot="0">
                <a:off x="0" y="0"/>
                <a:ext cx="314407" cy="3660521"/>
              </a:xfrm>
              <a:custGeom>
                <a:avLst/>
                <a:gdLst/>
                <a:ahLst/>
                <a:cxnLst/>
                <a:rect r="r" b="b" t="t" l="l"/>
                <a:pathLst>
                  <a:path h="3660521" w="314407">
                    <a:moveTo>
                      <a:pt x="0" y="0"/>
                    </a:moveTo>
                    <a:lnTo>
                      <a:pt x="314407" y="0"/>
                    </a:lnTo>
                    <a:lnTo>
                      <a:pt x="314407" y="3660521"/>
                    </a:lnTo>
                    <a:lnTo>
                      <a:pt x="0" y="3660521"/>
                    </a:lnTo>
                    <a:close/>
                  </a:path>
                </a:pathLst>
              </a:custGeom>
              <a:solidFill>
                <a:srgbClr val="5CD3AA"/>
              </a:solidFill>
            </p:spPr>
          </p:sp>
        </p:grpSp>
        <p:sp>
          <p:nvSpPr>
            <p:cNvPr name="TextBox 57" id="57"/>
            <p:cNvSpPr txBox="true"/>
            <p:nvPr/>
          </p:nvSpPr>
          <p:spPr>
            <a:xfrm rot="0">
              <a:off x="639674" y="229792"/>
              <a:ext cx="7530295" cy="4953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940"/>
                </a:lnSpc>
              </a:pPr>
              <a:r>
                <a:rPr lang="en-US" sz="2450" b="true">
                  <a:solidFill>
                    <a:srgbClr val="F1F5F9"/>
                  </a:solidFill>
                  <a:latin typeface="Aptos Bold"/>
                  <a:ea typeface="Aptos Bold"/>
                  <a:cs typeface="Aptos Bold"/>
                  <a:sym typeface="Aptos Bold"/>
                </a:rPr>
                <a:t>Memory</a:t>
              </a:r>
            </a:p>
          </p:txBody>
        </p:sp>
        <p:sp>
          <p:nvSpPr>
            <p:cNvPr name="TextBox 58" id="58"/>
            <p:cNvSpPr txBox="true"/>
            <p:nvPr/>
          </p:nvSpPr>
          <p:spPr>
            <a:xfrm rot="0">
              <a:off x="639674" y="746151"/>
              <a:ext cx="7530295" cy="11049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243"/>
                </a:lnSpc>
              </a:pPr>
              <a:r>
                <a:rPr lang="en-US" sz="1869">
                  <a:solidFill>
                    <a:srgbClr val="A6B1C3"/>
                  </a:solidFill>
                  <a:latin typeface="Aptos"/>
                  <a:ea typeface="Aptos"/>
                  <a:cs typeface="Aptos"/>
                  <a:sym typeface="Aptos"/>
                </a:rPr>
                <a:t>Nodes are allocated dynamically with malloc() and released when the playlist changes or the program exits.</a:t>
              </a:r>
            </a:p>
          </p:txBody>
        </p:sp>
      </p:grpSp>
      <p:sp>
        <p:nvSpPr>
          <p:cNvPr name="TextBox 59" id="59"/>
          <p:cNvSpPr txBox="true"/>
          <p:nvPr/>
        </p:nvSpPr>
        <p:spPr>
          <a:xfrm rot="0">
            <a:off x="10738693" y="8908235"/>
            <a:ext cx="1783521" cy="619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23"/>
              </a:lnSpc>
            </a:pPr>
            <a:r>
              <a:rPr lang="en-US" sz="2019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Core pointer operations</a:t>
            </a:r>
          </a:p>
        </p:txBody>
      </p:sp>
      <p:grpSp>
        <p:nvGrpSpPr>
          <p:cNvPr name="Group 60" id="60"/>
          <p:cNvGrpSpPr/>
          <p:nvPr/>
        </p:nvGrpSpPr>
        <p:grpSpPr>
          <a:xfrm rot="0">
            <a:off x="12677998" y="8730042"/>
            <a:ext cx="1685227" cy="427013"/>
            <a:chOff x="0" y="0"/>
            <a:chExt cx="2246969" cy="569351"/>
          </a:xfrm>
        </p:grpSpPr>
        <p:grpSp>
          <p:nvGrpSpPr>
            <p:cNvPr name="Group 61" id="61"/>
            <p:cNvGrpSpPr/>
            <p:nvPr/>
          </p:nvGrpSpPr>
          <p:grpSpPr>
            <a:xfrm rot="0">
              <a:off x="0" y="0"/>
              <a:ext cx="2246969" cy="569351"/>
              <a:chOff x="0" y="0"/>
              <a:chExt cx="2744784" cy="695490"/>
            </a:xfrm>
          </p:grpSpPr>
          <p:sp>
            <p:nvSpPr>
              <p:cNvPr name="Freeform 62" id="62"/>
              <p:cNvSpPr/>
              <p:nvPr/>
            </p:nvSpPr>
            <p:spPr>
              <a:xfrm flipH="false" flipV="false" rot="0">
                <a:off x="0" y="0"/>
                <a:ext cx="2744784" cy="695579"/>
              </a:xfrm>
              <a:custGeom>
                <a:avLst/>
                <a:gdLst/>
                <a:ahLst/>
                <a:cxnLst/>
                <a:rect r="r" b="b" t="t" l="l"/>
                <a:pathLst>
                  <a:path h="695579" w="2744784">
                    <a:moveTo>
                      <a:pt x="0" y="115951"/>
                    </a:moveTo>
                    <a:cubicBezTo>
                      <a:pt x="0" y="51943"/>
                      <a:pt x="28327" y="0"/>
                      <a:pt x="63233" y="0"/>
                    </a:cubicBezTo>
                    <a:lnTo>
                      <a:pt x="2681551" y="0"/>
                    </a:lnTo>
                    <a:cubicBezTo>
                      <a:pt x="2716457" y="0"/>
                      <a:pt x="2744784" y="51943"/>
                      <a:pt x="2744784" y="115951"/>
                    </a:cubicBezTo>
                    <a:lnTo>
                      <a:pt x="2744784" y="579628"/>
                    </a:lnTo>
                    <a:cubicBezTo>
                      <a:pt x="2744784" y="643636"/>
                      <a:pt x="2716457" y="695579"/>
                      <a:pt x="2681551" y="695579"/>
                    </a:cubicBezTo>
                    <a:lnTo>
                      <a:pt x="63233" y="695579"/>
                    </a:lnTo>
                    <a:cubicBezTo>
                      <a:pt x="28327" y="695452"/>
                      <a:pt x="0" y="643636"/>
                      <a:pt x="0" y="579628"/>
                    </a:cubicBezTo>
                    <a:close/>
                  </a:path>
                </a:pathLst>
              </a:custGeom>
              <a:solidFill>
                <a:srgbClr val="5B8DEF"/>
              </a:solidFill>
            </p:spPr>
          </p:sp>
        </p:grpSp>
        <p:sp>
          <p:nvSpPr>
            <p:cNvPr name="TextBox 63" id="63"/>
            <p:cNvSpPr txBox="true"/>
            <p:nvPr/>
          </p:nvSpPr>
          <p:spPr>
            <a:xfrm rot="0">
              <a:off x="16329" y="159916"/>
              <a:ext cx="2214312" cy="24951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474"/>
                </a:lnSpc>
              </a:pPr>
              <a:r>
                <a:rPr lang="en-US" sz="1228" b="true">
                  <a:solidFill>
                    <a:srgbClr val="FFFFFF"/>
                  </a:solidFill>
                  <a:latin typeface="Aptos Bold"/>
                  <a:ea typeface="Aptos Bold"/>
                  <a:cs typeface="Aptos Bold"/>
                  <a:sym typeface="Aptos Bold"/>
                </a:rPr>
                <a:t>current = current-&gt;next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12677998" y="9395180"/>
            <a:ext cx="1685227" cy="425396"/>
            <a:chOff x="0" y="0"/>
            <a:chExt cx="2246969" cy="567195"/>
          </a:xfrm>
        </p:grpSpPr>
        <p:grpSp>
          <p:nvGrpSpPr>
            <p:cNvPr name="Group 65" id="65"/>
            <p:cNvGrpSpPr/>
            <p:nvPr/>
          </p:nvGrpSpPr>
          <p:grpSpPr>
            <a:xfrm rot="0">
              <a:off x="0" y="0"/>
              <a:ext cx="2246969" cy="567195"/>
              <a:chOff x="0" y="0"/>
              <a:chExt cx="2755219" cy="695490"/>
            </a:xfrm>
          </p:grpSpPr>
          <p:sp>
            <p:nvSpPr>
              <p:cNvPr name="Freeform 66" id="66"/>
              <p:cNvSpPr/>
              <p:nvPr/>
            </p:nvSpPr>
            <p:spPr>
              <a:xfrm flipH="false" flipV="false" rot="0">
                <a:off x="0" y="0"/>
                <a:ext cx="2755219" cy="695579"/>
              </a:xfrm>
              <a:custGeom>
                <a:avLst/>
                <a:gdLst/>
                <a:ahLst/>
                <a:cxnLst/>
                <a:rect r="r" b="b" t="t" l="l"/>
                <a:pathLst>
                  <a:path h="695579" w="2755219">
                    <a:moveTo>
                      <a:pt x="0" y="115951"/>
                    </a:moveTo>
                    <a:cubicBezTo>
                      <a:pt x="0" y="51943"/>
                      <a:pt x="28434" y="0"/>
                      <a:pt x="63473" y="0"/>
                    </a:cubicBezTo>
                    <a:lnTo>
                      <a:pt x="2691745" y="0"/>
                    </a:lnTo>
                    <a:cubicBezTo>
                      <a:pt x="2726784" y="0"/>
                      <a:pt x="2755219" y="51943"/>
                      <a:pt x="2755219" y="115951"/>
                    </a:cubicBezTo>
                    <a:lnTo>
                      <a:pt x="2755219" y="579628"/>
                    </a:lnTo>
                    <a:cubicBezTo>
                      <a:pt x="2755219" y="643636"/>
                      <a:pt x="2726784" y="695579"/>
                      <a:pt x="2691745" y="695579"/>
                    </a:cubicBezTo>
                    <a:lnTo>
                      <a:pt x="63473" y="695579"/>
                    </a:lnTo>
                    <a:cubicBezTo>
                      <a:pt x="28434" y="695452"/>
                      <a:pt x="0" y="643636"/>
                      <a:pt x="0" y="579628"/>
                    </a:cubicBezTo>
                    <a:close/>
                  </a:path>
                </a:pathLst>
              </a:custGeom>
              <a:solidFill>
                <a:srgbClr val="5CD3AA"/>
              </a:solidFill>
            </p:spPr>
          </p:sp>
        </p:grpSp>
        <p:sp>
          <p:nvSpPr>
            <p:cNvPr name="TextBox 67" id="67"/>
            <p:cNvSpPr txBox="true"/>
            <p:nvPr/>
          </p:nvSpPr>
          <p:spPr>
            <a:xfrm rot="0">
              <a:off x="16329" y="159310"/>
              <a:ext cx="2214312" cy="24857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469"/>
                </a:lnSpc>
              </a:pPr>
              <a:r>
                <a:rPr lang="en-US" sz="1224" b="true">
                  <a:solidFill>
                    <a:srgbClr val="FFFFFF"/>
                  </a:solidFill>
                  <a:latin typeface="Aptos Bold"/>
                  <a:ea typeface="Aptos Bold"/>
                  <a:cs typeface="Aptos Bold"/>
                  <a:sym typeface="Aptos Bold"/>
                </a:rPr>
                <a:t>current = current-&gt;prev</a:t>
              </a:r>
            </a:p>
          </p:txBody>
        </p:sp>
      </p:grpSp>
      <p:grpSp>
        <p:nvGrpSpPr>
          <p:cNvPr name="Group 68" id="68"/>
          <p:cNvGrpSpPr/>
          <p:nvPr/>
        </p:nvGrpSpPr>
        <p:grpSpPr>
          <a:xfrm rot="0">
            <a:off x="14625227" y="8712483"/>
            <a:ext cx="1685227" cy="427013"/>
            <a:chOff x="0" y="0"/>
            <a:chExt cx="2246969" cy="569351"/>
          </a:xfrm>
        </p:grpSpPr>
        <p:grpSp>
          <p:nvGrpSpPr>
            <p:cNvPr name="Group 69" id="69"/>
            <p:cNvGrpSpPr/>
            <p:nvPr/>
          </p:nvGrpSpPr>
          <p:grpSpPr>
            <a:xfrm rot="0">
              <a:off x="0" y="0"/>
              <a:ext cx="2246969" cy="569351"/>
              <a:chOff x="0" y="0"/>
              <a:chExt cx="2744784" cy="695490"/>
            </a:xfrm>
          </p:grpSpPr>
          <p:sp>
            <p:nvSpPr>
              <p:cNvPr name="Freeform 70" id="70"/>
              <p:cNvSpPr/>
              <p:nvPr/>
            </p:nvSpPr>
            <p:spPr>
              <a:xfrm flipH="false" flipV="false" rot="0">
                <a:off x="0" y="0"/>
                <a:ext cx="2744797" cy="695579"/>
              </a:xfrm>
              <a:custGeom>
                <a:avLst/>
                <a:gdLst/>
                <a:ahLst/>
                <a:cxnLst/>
                <a:rect r="r" b="b" t="t" l="l"/>
                <a:pathLst>
                  <a:path h="695579" w="2744797">
                    <a:moveTo>
                      <a:pt x="0" y="115951"/>
                    </a:moveTo>
                    <a:cubicBezTo>
                      <a:pt x="0" y="51943"/>
                      <a:pt x="33869" y="0"/>
                      <a:pt x="75605" y="0"/>
                    </a:cubicBezTo>
                    <a:lnTo>
                      <a:pt x="2669188" y="0"/>
                    </a:lnTo>
                    <a:cubicBezTo>
                      <a:pt x="2710924" y="0"/>
                      <a:pt x="2744797" y="51943"/>
                      <a:pt x="2744797" y="115951"/>
                    </a:cubicBezTo>
                    <a:lnTo>
                      <a:pt x="2744797" y="579628"/>
                    </a:lnTo>
                    <a:cubicBezTo>
                      <a:pt x="2744797" y="643636"/>
                      <a:pt x="2710924" y="695579"/>
                      <a:pt x="2669188" y="695579"/>
                    </a:cubicBezTo>
                    <a:lnTo>
                      <a:pt x="75605" y="695579"/>
                    </a:lnTo>
                    <a:cubicBezTo>
                      <a:pt x="33869" y="695452"/>
                      <a:pt x="0" y="643636"/>
                      <a:pt x="0" y="579628"/>
                    </a:cubicBezTo>
                    <a:close/>
                  </a:path>
                </a:pathLst>
              </a:custGeom>
              <a:solidFill>
                <a:srgbClr val="F7AA4E"/>
              </a:solidFill>
            </p:spPr>
          </p:sp>
        </p:grpSp>
        <p:sp>
          <p:nvSpPr>
            <p:cNvPr name="TextBox 71" id="71"/>
            <p:cNvSpPr txBox="true"/>
            <p:nvPr/>
          </p:nvSpPr>
          <p:spPr>
            <a:xfrm rot="0">
              <a:off x="19524" y="159916"/>
              <a:ext cx="2207922" cy="24951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474"/>
                </a:lnSpc>
              </a:pPr>
              <a:r>
                <a:rPr lang="en-US" sz="1228" b="true">
                  <a:solidFill>
                    <a:srgbClr val="FFFFFF"/>
                  </a:solidFill>
                  <a:latin typeface="Aptos Bold"/>
                  <a:ea typeface="Aptos Bold"/>
                  <a:cs typeface="Aptos Bold"/>
                  <a:sym typeface="Aptos Bold"/>
                </a:rPr>
                <a:t>new_node → tail</a:t>
              </a:r>
            </a:p>
          </p:txBody>
        </p:sp>
      </p:grpSp>
      <p:grpSp>
        <p:nvGrpSpPr>
          <p:cNvPr name="Group 72" id="72"/>
          <p:cNvGrpSpPr/>
          <p:nvPr/>
        </p:nvGrpSpPr>
        <p:grpSpPr>
          <a:xfrm rot="0">
            <a:off x="14625227" y="9377621"/>
            <a:ext cx="1685227" cy="427013"/>
            <a:chOff x="0" y="0"/>
            <a:chExt cx="2246969" cy="569351"/>
          </a:xfrm>
        </p:grpSpPr>
        <p:grpSp>
          <p:nvGrpSpPr>
            <p:cNvPr name="Group 73" id="73"/>
            <p:cNvGrpSpPr/>
            <p:nvPr/>
          </p:nvGrpSpPr>
          <p:grpSpPr>
            <a:xfrm rot="0">
              <a:off x="0" y="0"/>
              <a:ext cx="2246969" cy="569351"/>
              <a:chOff x="0" y="0"/>
              <a:chExt cx="2744784" cy="695490"/>
            </a:xfrm>
          </p:grpSpPr>
          <p:sp>
            <p:nvSpPr>
              <p:cNvPr name="Freeform 74" id="74"/>
              <p:cNvSpPr/>
              <p:nvPr/>
            </p:nvSpPr>
            <p:spPr>
              <a:xfrm flipH="false" flipV="false" rot="0">
                <a:off x="0" y="0"/>
                <a:ext cx="2744835" cy="695579"/>
              </a:xfrm>
              <a:custGeom>
                <a:avLst/>
                <a:gdLst/>
                <a:ahLst/>
                <a:cxnLst/>
                <a:rect r="r" b="b" t="t" l="l"/>
                <a:pathLst>
                  <a:path h="695579" w="2744835">
                    <a:moveTo>
                      <a:pt x="0" y="115951"/>
                    </a:moveTo>
                    <a:cubicBezTo>
                      <a:pt x="0" y="51943"/>
                      <a:pt x="47211" y="0"/>
                      <a:pt x="105388" y="0"/>
                    </a:cubicBezTo>
                    <a:lnTo>
                      <a:pt x="2639442" y="0"/>
                    </a:lnTo>
                    <a:cubicBezTo>
                      <a:pt x="2697619" y="0"/>
                      <a:pt x="2744835" y="51943"/>
                      <a:pt x="2744835" y="115951"/>
                    </a:cubicBezTo>
                    <a:lnTo>
                      <a:pt x="2744835" y="579628"/>
                    </a:lnTo>
                    <a:cubicBezTo>
                      <a:pt x="2744835" y="643636"/>
                      <a:pt x="2697619" y="695579"/>
                      <a:pt x="2639442" y="695579"/>
                    </a:cubicBezTo>
                    <a:lnTo>
                      <a:pt x="105388" y="695579"/>
                    </a:lnTo>
                    <a:cubicBezTo>
                      <a:pt x="47211" y="695452"/>
                      <a:pt x="0" y="643636"/>
                      <a:pt x="0" y="579628"/>
                    </a:cubicBezTo>
                    <a:close/>
                  </a:path>
                </a:pathLst>
              </a:custGeom>
              <a:solidFill>
                <a:srgbClr val="EF6969"/>
              </a:solidFill>
            </p:spPr>
          </p:sp>
        </p:grpSp>
        <p:sp>
          <p:nvSpPr>
            <p:cNvPr name="TextBox 75" id="75"/>
            <p:cNvSpPr txBox="true"/>
            <p:nvPr/>
          </p:nvSpPr>
          <p:spPr>
            <a:xfrm rot="0">
              <a:off x="27215" y="159916"/>
              <a:ext cx="2192540" cy="24951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474"/>
                </a:lnSpc>
              </a:pPr>
              <a:r>
                <a:rPr lang="en-US" sz="1228" b="true">
                  <a:solidFill>
                    <a:srgbClr val="FFFFFF"/>
                  </a:solidFill>
                  <a:latin typeface="Aptos Bold"/>
                  <a:ea typeface="Aptos Bold"/>
                  <a:cs typeface="Aptos Bold"/>
                  <a:sym typeface="Aptos Bold"/>
                </a:rPr>
                <a:t>free(node)</a:t>
              </a:r>
            </a:p>
          </p:txBody>
        </p:sp>
      </p:grpSp>
      <p:sp>
        <p:nvSpPr>
          <p:cNvPr name="TextBox 76" id="76"/>
          <p:cNvSpPr txBox="true"/>
          <p:nvPr/>
        </p:nvSpPr>
        <p:spPr>
          <a:xfrm rot="0">
            <a:off x="1086290" y="801126"/>
            <a:ext cx="3259383" cy="228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true">
                <a:solidFill>
                  <a:srgbClr val="5B8DEF"/>
                </a:solidFill>
                <a:latin typeface="Aptos Bold"/>
                <a:ea typeface="Aptos Bold"/>
                <a:cs typeface="Aptos Bold"/>
                <a:sym typeface="Aptos Bold"/>
              </a:rPr>
              <a:t>04 • ALGORITHMS AND OPERATIONS</a:t>
            </a:r>
          </a:p>
        </p:txBody>
      </p:sp>
      <p:sp>
        <p:nvSpPr>
          <p:cNvPr name="TextBox 77" id="77"/>
          <p:cNvSpPr txBox="true"/>
          <p:nvPr/>
        </p:nvSpPr>
        <p:spPr>
          <a:xfrm rot="0">
            <a:off x="16977879" y="9693198"/>
            <a:ext cx="562842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1"/>
              </a:lnSpc>
            </a:pPr>
            <a:r>
              <a:rPr lang="en-US" sz="1351" b="true">
                <a:solidFill>
                  <a:srgbClr val="A6B1C3"/>
                </a:solidFill>
                <a:latin typeface="Aptos Bold"/>
                <a:ea typeface="Aptos Bold"/>
                <a:cs typeface="Aptos Bold"/>
                <a:sym typeface="Aptos Bol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0C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529191" y="822743"/>
            <a:ext cx="5704817" cy="340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0"/>
              </a:lnSpc>
            </a:pPr>
            <a:r>
              <a:rPr lang="en-US" sz="1575" b="true">
                <a:solidFill>
                  <a:srgbClr val="5B8DEF"/>
                </a:solidFill>
                <a:latin typeface="Aptos Bold"/>
                <a:ea typeface="Aptos Bold"/>
                <a:cs typeface="Aptos Bold"/>
                <a:sym typeface="Aptos Bold"/>
              </a:rPr>
              <a:t>06 • FEATURES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529191" y="1451732"/>
            <a:ext cx="17229618" cy="8356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671"/>
              </a:lnSpc>
            </a:pPr>
            <a:r>
              <a:rPr lang="en-US" sz="4726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User Features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558001" y="2364190"/>
            <a:ext cx="16941503" cy="6290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46"/>
              </a:lnSpc>
            </a:pPr>
            <a:r>
              <a:rPr lang="en-US" sz="2205">
                <a:solidFill>
                  <a:srgbClr val="A6B1C3"/>
                </a:solidFill>
                <a:latin typeface="Aptos"/>
                <a:ea typeface="Aptos"/>
                <a:cs typeface="Aptos"/>
                <a:sym typeface="Aptos"/>
              </a:rPr>
              <a:t>A compact interface designed for a live demonstration.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708986" y="3182641"/>
            <a:ext cx="16942053" cy="1311551"/>
            <a:chOff x="0" y="0"/>
            <a:chExt cx="21524265" cy="166627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524340" cy="1666367"/>
            </a:xfrm>
            <a:custGeom>
              <a:avLst/>
              <a:gdLst/>
              <a:ahLst/>
              <a:cxnLst/>
              <a:rect r="r" b="b" t="t" l="l"/>
              <a:pathLst>
                <a:path h="1666367" w="21524340">
                  <a:moveTo>
                    <a:pt x="0" y="277749"/>
                  </a:moveTo>
                  <a:cubicBezTo>
                    <a:pt x="0" y="124333"/>
                    <a:pt x="124333" y="0"/>
                    <a:pt x="277749" y="0"/>
                  </a:cubicBezTo>
                  <a:lnTo>
                    <a:pt x="21246592" y="0"/>
                  </a:lnTo>
                  <a:cubicBezTo>
                    <a:pt x="21400007" y="0"/>
                    <a:pt x="21524340" y="124333"/>
                    <a:pt x="21524340" y="277749"/>
                  </a:cubicBezTo>
                  <a:lnTo>
                    <a:pt x="21524340" y="1388618"/>
                  </a:lnTo>
                  <a:cubicBezTo>
                    <a:pt x="21524340" y="1542034"/>
                    <a:pt x="21400007" y="1666367"/>
                    <a:pt x="21246592" y="1666367"/>
                  </a:cubicBezTo>
                  <a:lnTo>
                    <a:pt x="277749" y="1666367"/>
                  </a:lnTo>
                  <a:cubicBezTo>
                    <a:pt x="124333" y="1666240"/>
                    <a:pt x="0" y="1541907"/>
                    <a:pt x="0" y="1388491"/>
                  </a:cubicBezTo>
                  <a:close/>
                </a:path>
              </a:pathLst>
            </a:custGeom>
            <a:solidFill>
              <a:srgbClr val="171D2A"/>
            </a:solidFill>
            <a:ln w="14299" cap="sq">
              <a:solidFill>
                <a:srgbClr val="303A4E"/>
              </a:solidFill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1033427" y="3550287"/>
            <a:ext cx="835545" cy="547430"/>
            <a:chOff x="0" y="0"/>
            <a:chExt cx="1061530" cy="69549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61593" cy="695579"/>
            </a:xfrm>
            <a:custGeom>
              <a:avLst/>
              <a:gdLst/>
              <a:ahLst/>
              <a:cxnLst/>
              <a:rect r="r" b="b" t="t" l="l"/>
              <a:pathLst>
                <a:path h="695579" w="1061593">
                  <a:moveTo>
                    <a:pt x="0" y="115951"/>
                  </a:moveTo>
                  <a:cubicBezTo>
                    <a:pt x="0" y="51943"/>
                    <a:pt x="51943" y="0"/>
                    <a:pt x="115951" y="0"/>
                  </a:cubicBezTo>
                  <a:lnTo>
                    <a:pt x="945642" y="0"/>
                  </a:lnTo>
                  <a:cubicBezTo>
                    <a:pt x="1009650" y="0"/>
                    <a:pt x="1061593" y="51943"/>
                    <a:pt x="1061593" y="115951"/>
                  </a:cubicBezTo>
                  <a:lnTo>
                    <a:pt x="1061593" y="579628"/>
                  </a:lnTo>
                  <a:cubicBezTo>
                    <a:pt x="1061593" y="643636"/>
                    <a:pt x="1009650" y="695579"/>
                    <a:pt x="945642" y="695579"/>
                  </a:cubicBezTo>
                  <a:lnTo>
                    <a:pt x="115951" y="695579"/>
                  </a:lnTo>
                  <a:cubicBezTo>
                    <a:pt x="51943" y="695452"/>
                    <a:pt x="0" y="643636"/>
                    <a:pt x="0" y="579628"/>
                  </a:cubicBezTo>
                  <a:close/>
                </a:path>
              </a:pathLst>
            </a:custGeom>
            <a:solidFill>
              <a:srgbClr val="5B8DEF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1062217" y="3588703"/>
            <a:ext cx="777966" cy="412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90"/>
              </a:lnSpc>
            </a:pPr>
            <a:r>
              <a:rPr lang="en-US" sz="1575" b="true">
                <a:solidFill>
                  <a:srgbClr val="FFFFFF"/>
                </a:solidFill>
                <a:latin typeface="Aptos Bold"/>
                <a:ea typeface="Aptos Bold"/>
                <a:cs typeface="Aptos Bold"/>
                <a:sym typeface="Aptos Bold"/>
              </a:rPr>
              <a:t>01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257910" y="3415826"/>
            <a:ext cx="4120165" cy="412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363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Playlist Selection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219563" y="3415826"/>
            <a:ext cx="10314743" cy="5858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57"/>
              </a:lnSpc>
            </a:pPr>
            <a:r>
              <a:rPr lang="en-US" sz="2048">
                <a:solidFill>
                  <a:srgbClr val="A6B1C3"/>
                </a:solidFill>
                <a:latin typeface="Aptos"/>
                <a:ea typeface="Aptos"/>
                <a:cs typeface="Aptos"/>
                <a:sym typeface="Aptos"/>
              </a:rPr>
              <a:t>Choose a playlist and switch to the next or previous playlist.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708986" y="4839326"/>
            <a:ext cx="16942053" cy="1311551"/>
            <a:chOff x="0" y="0"/>
            <a:chExt cx="21524265" cy="166627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1524340" cy="1666367"/>
            </a:xfrm>
            <a:custGeom>
              <a:avLst/>
              <a:gdLst/>
              <a:ahLst/>
              <a:cxnLst/>
              <a:rect r="r" b="b" t="t" l="l"/>
              <a:pathLst>
                <a:path h="1666367" w="21524340">
                  <a:moveTo>
                    <a:pt x="0" y="277749"/>
                  </a:moveTo>
                  <a:cubicBezTo>
                    <a:pt x="0" y="124333"/>
                    <a:pt x="124333" y="0"/>
                    <a:pt x="277749" y="0"/>
                  </a:cubicBezTo>
                  <a:lnTo>
                    <a:pt x="21246592" y="0"/>
                  </a:lnTo>
                  <a:cubicBezTo>
                    <a:pt x="21400007" y="0"/>
                    <a:pt x="21524340" y="124333"/>
                    <a:pt x="21524340" y="277749"/>
                  </a:cubicBezTo>
                  <a:lnTo>
                    <a:pt x="21524340" y="1388618"/>
                  </a:lnTo>
                  <a:cubicBezTo>
                    <a:pt x="21524340" y="1542034"/>
                    <a:pt x="21400007" y="1666367"/>
                    <a:pt x="21246592" y="1666367"/>
                  </a:cubicBezTo>
                  <a:lnTo>
                    <a:pt x="277749" y="1666367"/>
                  </a:lnTo>
                  <a:cubicBezTo>
                    <a:pt x="124333" y="1666240"/>
                    <a:pt x="0" y="1541907"/>
                    <a:pt x="0" y="1388491"/>
                  </a:cubicBezTo>
                  <a:close/>
                </a:path>
              </a:pathLst>
            </a:custGeom>
            <a:solidFill>
              <a:srgbClr val="171D2A"/>
            </a:solidFill>
            <a:ln w="14299" cap="sq">
              <a:solidFill>
                <a:srgbClr val="303A4E"/>
              </a:solidFill>
              <a:prstDash val="solid"/>
              <a:miter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1033427" y="5206982"/>
            <a:ext cx="835545" cy="547430"/>
            <a:chOff x="0" y="0"/>
            <a:chExt cx="1061530" cy="69549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61593" cy="695579"/>
            </a:xfrm>
            <a:custGeom>
              <a:avLst/>
              <a:gdLst/>
              <a:ahLst/>
              <a:cxnLst/>
              <a:rect r="r" b="b" t="t" l="l"/>
              <a:pathLst>
                <a:path h="695579" w="1061593">
                  <a:moveTo>
                    <a:pt x="0" y="115951"/>
                  </a:moveTo>
                  <a:cubicBezTo>
                    <a:pt x="0" y="51943"/>
                    <a:pt x="51943" y="0"/>
                    <a:pt x="115951" y="0"/>
                  </a:cubicBezTo>
                  <a:lnTo>
                    <a:pt x="945642" y="0"/>
                  </a:lnTo>
                  <a:cubicBezTo>
                    <a:pt x="1009650" y="0"/>
                    <a:pt x="1061593" y="51943"/>
                    <a:pt x="1061593" y="115951"/>
                  </a:cubicBezTo>
                  <a:lnTo>
                    <a:pt x="1061593" y="579628"/>
                  </a:lnTo>
                  <a:cubicBezTo>
                    <a:pt x="1061593" y="643636"/>
                    <a:pt x="1009650" y="695579"/>
                    <a:pt x="945642" y="695579"/>
                  </a:cubicBezTo>
                  <a:lnTo>
                    <a:pt x="115951" y="695579"/>
                  </a:lnTo>
                  <a:cubicBezTo>
                    <a:pt x="51943" y="695452"/>
                    <a:pt x="0" y="643636"/>
                    <a:pt x="0" y="579628"/>
                  </a:cubicBezTo>
                  <a:close/>
                </a:path>
              </a:pathLst>
            </a:custGeom>
            <a:solidFill>
              <a:srgbClr val="5CD3AA"/>
            </a:solid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1062217" y="5245388"/>
            <a:ext cx="777966" cy="412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90"/>
              </a:lnSpc>
            </a:pPr>
            <a:r>
              <a:rPr lang="en-US" sz="1575" b="true">
                <a:solidFill>
                  <a:srgbClr val="FFFFFF"/>
                </a:solidFill>
                <a:latin typeface="Aptos Bold"/>
                <a:ea typeface="Aptos Bold"/>
                <a:cs typeface="Aptos Bold"/>
                <a:sym typeface="Aptos Bold"/>
              </a:rPr>
              <a:t>02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2257910" y="5072521"/>
            <a:ext cx="4120165" cy="412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363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Song Search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219563" y="5072521"/>
            <a:ext cx="10314743" cy="5858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57"/>
              </a:lnSpc>
            </a:pPr>
            <a:r>
              <a:rPr lang="en-US" sz="2048">
                <a:solidFill>
                  <a:srgbClr val="A6B1C3"/>
                </a:solidFill>
                <a:latin typeface="Aptos"/>
                <a:ea typeface="Aptos"/>
                <a:cs typeface="Aptos"/>
                <a:sym typeface="Aptos"/>
              </a:rPr>
              <a:t>Search by full or partial song title.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708986" y="6496021"/>
            <a:ext cx="16942053" cy="1311551"/>
            <a:chOff x="0" y="0"/>
            <a:chExt cx="21524265" cy="1666278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1524340" cy="1666367"/>
            </a:xfrm>
            <a:custGeom>
              <a:avLst/>
              <a:gdLst/>
              <a:ahLst/>
              <a:cxnLst/>
              <a:rect r="r" b="b" t="t" l="l"/>
              <a:pathLst>
                <a:path h="1666367" w="21524340">
                  <a:moveTo>
                    <a:pt x="0" y="277749"/>
                  </a:moveTo>
                  <a:cubicBezTo>
                    <a:pt x="0" y="124333"/>
                    <a:pt x="124333" y="0"/>
                    <a:pt x="277749" y="0"/>
                  </a:cubicBezTo>
                  <a:lnTo>
                    <a:pt x="21246592" y="0"/>
                  </a:lnTo>
                  <a:cubicBezTo>
                    <a:pt x="21400007" y="0"/>
                    <a:pt x="21524340" y="124333"/>
                    <a:pt x="21524340" y="277749"/>
                  </a:cubicBezTo>
                  <a:lnTo>
                    <a:pt x="21524340" y="1388618"/>
                  </a:lnTo>
                  <a:cubicBezTo>
                    <a:pt x="21524340" y="1542034"/>
                    <a:pt x="21400007" y="1666367"/>
                    <a:pt x="21246592" y="1666367"/>
                  </a:cubicBezTo>
                  <a:lnTo>
                    <a:pt x="277749" y="1666367"/>
                  </a:lnTo>
                  <a:cubicBezTo>
                    <a:pt x="124333" y="1666240"/>
                    <a:pt x="0" y="1541907"/>
                    <a:pt x="0" y="1388491"/>
                  </a:cubicBezTo>
                  <a:close/>
                </a:path>
              </a:pathLst>
            </a:custGeom>
            <a:solidFill>
              <a:srgbClr val="171D2A"/>
            </a:solidFill>
            <a:ln w="14299" cap="sq">
              <a:solidFill>
                <a:srgbClr val="303A4E"/>
              </a:solidFill>
              <a:prstDash val="solid"/>
              <a:miter/>
            </a:ln>
          </p:spPr>
        </p:sp>
      </p:grpSp>
      <p:grpSp>
        <p:nvGrpSpPr>
          <p:cNvPr name="Group 21" id="21"/>
          <p:cNvGrpSpPr/>
          <p:nvPr/>
        </p:nvGrpSpPr>
        <p:grpSpPr>
          <a:xfrm rot="0">
            <a:off x="1033427" y="6863667"/>
            <a:ext cx="835545" cy="547430"/>
            <a:chOff x="0" y="0"/>
            <a:chExt cx="1061530" cy="69549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61593" cy="695579"/>
            </a:xfrm>
            <a:custGeom>
              <a:avLst/>
              <a:gdLst/>
              <a:ahLst/>
              <a:cxnLst/>
              <a:rect r="r" b="b" t="t" l="l"/>
              <a:pathLst>
                <a:path h="695579" w="1061593">
                  <a:moveTo>
                    <a:pt x="0" y="115951"/>
                  </a:moveTo>
                  <a:cubicBezTo>
                    <a:pt x="0" y="51943"/>
                    <a:pt x="51943" y="0"/>
                    <a:pt x="115951" y="0"/>
                  </a:cubicBezTo>
                  <a:lnTo>
                    <a:pt x="945642" y="0"/>
                  </a:lnTo>
                  <a:cubicBezTo>
                    <a:pt x="1009650" y="0"/>
                    <a:pt x="1061593" y="51943"/>
                    <a:pt x="1061593" y="115951"/>
                  </a:cubicBezTo>
                  <a:lnTo>
                    <a:pt x="1061593" y="579628"/>
                  </a:lnTo>
                  <a:cubicBezTo>
                    <a:pt x="1061593" y="643636"/>
                    <a:pt x="1009650" y="695579"/>
                    <a:pt x="945642" y="695579"/>
                  </a:cubicBezTo>
                  <a:lnTo>
                    <a:pt x="115951" y="695579"/>
                  </a:lnTo>
                  <a:cubicBezTo>
                    <a:pt x="51943" y="695452"/>
                    <a:pt x="0" y="643636"/>
                    <a:pt x="0" y="579628"/>
                  </a:cubicBezTo>
                  <a:close/>
                </a:path>
              </a:pathLst>
            </a:custGeom>
            <a:solidFill>
              <a:srgbClr val="F7AA4E"/>
            </a:solidFill>
          </p:spPr>
        </p:sp>
      </p:grpSp>
      <p:sp>
        <p:nvSpPr>
          <p:cNvPr name="TextBox 23" id="23"/>
          <p:cNvSpPr txBox="true"/>
          <p:nvPr/>
        </p:nvSpPr>
        <p:spPr>
          <a:xfrm rot="0">
            <a:off x="1062217" y="6902073"/>
            <a:ext cx="777966" cy="412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90"/>
              </a:lnSpc>
            </a:pPr>
            <a:r>
              <a:rPr lang="en-US" sz="1575" b="true">
                <a:solidFill>
                  <a:srgbClr val="FFFFFF"/>
                </a:solidFill>
                <a:latin typeface="Aptos Bold"/>
                <a:ea typeface="Aptos Bold"/>
                <a:cs typeface="Aptos Bold"/>
                <a:sym typeface="Aptos Bold"/>
              </a:rPr>
              <a:t>03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2257910" y="6729206"/>
            <a:ext cx="4120165" cy="412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363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Navigation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219563" y="6729206"/>
            <a:ext cx="10314743" cy="5858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57"/>
              </a:lnSpc>
            </a:pPr>
            <a:r>
              <a:rPr lang="en-US" sz="2048">
                <a:solidFill>
                  <a:srgbClr val="A6B1C3"/>
                </a:solidFill>
                <a:latin typeface="Aptos"/>
                <a:ea typeface="Aptos"/>
                <a:cs typeface="Aptos"/>
                <a:sym typeface="Aptos"/>
              </a:rPr>
              <a:t>Move to the next or previous song using linked-list pointers.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708986" y="8152706"/>
            <a:ext cx="16942053" cy="1311551"/>
            <a:chOff x="0" y="0"/>
            <a:chExt cx="21524265" cy="1666278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1524340" cy="1666367"/>
            </a:xfrm>
            <a:custGeom>
              <a:avLst/>
              <a:gdLst/>
              <a:ahLst/>
              <a:cxnLst/>
              <a:rect r="r" b="b" t="t" l="l"/>
              <a:pathLst>
                <a:path h="1666367" w="21524340">
                  <a:moveTo>
                    <a:pt x="0" y="277749"/>
                  </a:moveTo>
                  <a:cubicBezTo>
                    <a:pt x="0" y="124333"/>
                    <a:pt x="124333" y="0"/>
                    <a:pt x="277749" y="0"/>
                  </a:cubicBezTo>
                  <a:lnTo>
                    <a:pt x="21246592" y="0"/>
                  </a:lnTo>
                  <a:cubicBezTo>
                    <a:pt x="21400007" y="0"/>
                    <a:pt x="21524340" y="124333"/>
                    <a:pt x="21524340" y="277749"/>
                  </a:cubicBezTo>
                  <a:lnTo>
                    <a:pt x="21524340" y="1388618"/>
                  </a:lnTo>
                  <a:cubicBezTo>
                    <a:pt x="21524340" y="1542034"/>
                    <a:pt x="21400007" y="1666367"/>
                    <a:pt x="21246592" y="1666367"/>
                  </a:cubicBezTo>
                  <a:lnTo>
                    <a:pt x="277749" y="1666367"/>
                  </a:lnTo>
                  <a:cubicBezTo>
                    <a:pt x="124333" y="1666240"/>
                    <a:pt x="0" y="1541907"/>
                    <a:pt x="0" y="1388491"/>
                  </a:cubicBezTo>
                  <a:close/>
                </a:path>
              </a:pathLst>
            </a:custGeom>
            <a:solidFill>
              <a:srgbClr val="171D2A"/>
            </a:solidFill>
            <a:ln w="14299" cap="sq">
              <a:solidFill>
                <a:srgbClr val="303A4E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1033427" y="8520362"/>
            <a:ext cx="835545" cy="547430"/>
            <a:chOff x="0" y="0"/>
            <a:chExt cx="1061530" cy="69549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061593" cy="695579"/>
            </a:xfrm>
            <a:custGeom>
              <a:avLst/>
              <a:gdLst/>
              <a:ahLst/>
              <a:cxnLst/>
              <a:rect r="r" b="b" t="t" l="l"/>
              <a:pathLst>
                <a:path h="695579" w="1061593">
                  <a:moveTo>
                    <a:pt x="0" y="115951"/>
                  </a:moveTo>
                  <a:cubicBezTo>
                    <a:pt x="0" y="51943"/>
                    <a:pt x="51943" y="0"/>
                    <a:pt x="115951" y="0"/>
                  </a:cubicBezTo>
                  <a:lnTo>
                    <a:pt x="945642" y="0"/>
                  </a:lnTo>
                  <a:cubicBezTo>
                    <a:pt x="1009650" y="0"/>
                    <a:pt x="1061593" y="51943"/>
                    <a:pt x="1061593" y="115951"/>
                  </a:cubicBezTo>
                  <a:lnTo>
                    <a:pt x="1061593" y="579628"/>
                  </a:lnTo>
                  <a:cubicBezTo>
                    <a:pt x="1061593" y="643636"/>
                    <a:pt x="1009650" y="695579"/>
                    <a:pt x="945642" y="695579"/>
                  </a:cubicBezTo>
                  <a:lnTo>
                    <a:pt x="115951" y="695579"/>
                  </a:lnTo>
                  <a:cubicBezTo>
                    <a:pt x="51943" y="695452"/>
                    <a:pt x="0" y="643636"/>
                    <a:pt x="0" y="579628"/>
                  </a:cubicBezTo>
                  <a:close/>
                </a:path>
              </a:pathLst>
            </a:custGeom>
            <a:solidFill>
              <a:srgbClr val="EF6969"/>
            </a:solidFill>
          </p:spPr>
        </p:sp>
      </p:grpSp>
      <p:sp>
        <p:nvSpPr>
          <p:cNvPr name="TextBox 30" id="30"/>
          <p:cNvSpPr txBox="true"/>
          <p:nvPr/>
        </p:nvSpPr>
        <p:spPr>
          <a:xfrm rot="0">
            <a:off x="1062217" y="8558768"/>
            <a:ext cx="777966" cy="412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90"/>
              </a:lnSpc>
            </a:pPr>
            <a:r>
              <a:rPr lang="en-US" sz="1575" b="true">
                <a:solidFill>
                  <a:srgbClr val="FFFFFF"/>
                </a:solidFill>
                <a:latin typeface="Aptos Bold"/>
                <a:ea typeface="Aptos Bold"/>
                <a:cs typeface="Aptos Bold"/>
                <a:sym typeface="Aptos Bold"/>
              </a:rPr>
              <a:t>04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2257910" y="8385891"/>
            <a:ext cx="4120165" cy="412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363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Playlist Editing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6219563" y="8385891"/>
            <a:ext cx="10314743" cy="5858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57"/>
              </a:lnSpc>
            </a:pPr>
            <a:r>
              <a:rPr lang="en-US" sz="2048">
                <a:solidFill>
                  <a:srgbClr val="A6B1C3"/>
                </a:solidFill>
                <a:latin typeface="Aptos"/>
                <a:ea typeface="Aptos"/>
                <a:cs typeface="Aptos"/>
                <a:sym typeface="Aptos"/>
              </a:rPr>
              <a:t>Add a song or delete a matching song from the active list.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6977879" y="9693198"/>
            <a:ext cx="562842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1"/>
              </a:lnSpc>
            </a:pPr>
            <a:r>
              <a:rPr lang="en-US" sz="1351" b="true">
                <a:solidFill>
                  <a:srgbClr val="A6B1C3"/>
                </a:solidFill>
                <a:latin typeface="Aptos Bold"/>
                <a:ea typeface="Aptos Bold"/>
                <a:cs typeface="Aptos Bold"/>
                <a:sym typeface="Aptos Bol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C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1669630"/>
            <a:ext cx="4307115" cy="6025751"/>
            <a:chOff x="0" y="0"/>
            <a:chExt cx="5742821" cy="8034334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0"/>
              <a:ext cx="5742821" cy="8034334"/>
              <a:chOff x="0" y="0"/>
              <a:chExt cx="543692" cy="760637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543692" cy="760637"/>
              </a:xfrm>
              <a:custGeom>
                <a:avLst/>
                <a:gdLst/>
                <a:ahLst/>
                <a:cxnLst/>
                <a:rect r="r" b="b" t="t" l="l"/>
                <a:pathLst>
                  <a:path h="760637" w="543692">
                    <a:moveTo>
                      <a:pt x="21064" y="0"/>
                    </a:moveTo>
                    <a:lnTo>
                      <a:pt x="522628" y="0"/>
                    </a:lnTo>
                    <a:cubicBezTo>
                      <a:pt x="534261" y="0"/>
                      <a:pt x="543692" y="9431"/>
                      <a:pt x="543692" y="21064"/>
                    </a:cubicBezTo>
                    <a:lnTo>
                      <a:pt x="543692" y="739573"/>
                    </a:lnTo>
                    <a:cubicBezTo>
                      <a:pt x="543692" y="745160"/>
                      <a:pt x="541473" y="750517"/>
                      <a:pt x="537522" y="754468"/>
                    </a:cubicBezTo>
                    <a:cubicBezTo>
                      <a:pt x="533572" y="758418"/>
                      <a:pt x="528214" y="760637"/>
                      <a:pt x="522628" y="760637"/>
                    </a:cubicBezTo>
                    <a:lnTo>
                      <a:pt x="21064" y="760637"/>
                    </a:lnTo>
                    <a:cubicBezTo>
                      <a:pt x="15478" y="760637"/>
                      <a:pt x="10120" y="758418"/>
                      <a:pt x="6170" y="754468"/>
                    </a:cubicBezTo>
                    <a:cubicBezTo>
                      <a:pt x="2219" y="750517"/>
                      <a:pt x="0" y="745160"/>
                      <a:pt x="0" y="739573"/>
                    </a:cubicBezTo>
                    <a:lnTo>
                      <a:pt x="0" y="21064"/>
                    </a:lnTo>
                    <a:cubicBezTo>
                      <a:pt x="0" y="15478"/>
                      <a:pt x="2219" y="10120"/>
                      <a:pt x="6170" y="6170"/>
                    </a:cubicBezTo>
                    <a:cubicBezTo>
                      <a:pt x="10120" y="2219"/>
                      <a:pt x="15478" y="0"/>
                      <a:pt x="21064" y="0"/>
                    </a:cubicBezTo>
                    <a:close/>
                  </a:path>
                </a:pathLst>
              </a:custGeom>
              <a:solidFill>
                <a:srgbClr val="303A4E"/>
              </a:solidFill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0"/>
                <a:ext cx="543692" cy="76063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890"/>
                  </a:lnSpc>
                </a:pPr>
              </a:p>
            </p:txBody>
          </p:sp>
        </p:grpSp>
        <p:sp>
          <p:nvSpPr>
            <p:cNvPr name="Freeform 6" id="6"/>
            <p:cNvSpPr/>
            <p:nvPr/>
          </p:nvSpPr>
          <p:spPr>
            <a:xfrm flipH="false" flipV="false" rot="0">
              <a:off x="196349" y="180364"/>
              <a:ext cx="5350123" cy="7673606"/>
            </a:xfrm>
            <a:custGeom>
              <a:avLst/>
              <a:gdLst/>
              <a:ahLst/>
              <a:cxnLst/>
              <a:rect r="r" b="b" t="t" l="l"/>
              <a:pathLst>
                <a:path h="7673606" w="5350123">
                  <a:moveTo>
                    <a:pt x="0" y="0"/>
                  </a:moveTo>
                  <a:lnTo>
                    <a:pt x="5350123" y="0"/>
                  </a:lnTo>
                  <a:lnTo>
                    <a:pt x="5350123" y="7673606"/>
                  </a:lnTo>
                  <a:lnTo>
                    <a:pt x="0" y="76736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5620761" y="3107621"/>
            <a:ext cx="3055249" cy="6150679"/>
            <a:chOff x="0" y="0"/>
            <a:chExt cx="4073666" cy="8200905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4073666" cy="8200905"/>
              <a:chOff x="0" y="0"/>
              <a:chExt cx="377834" cy="760637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377834" cy="760637"/>
              </a:xfrm>
              <a:custGeom>
                <a:avLst/>
                <a:gdLst/>
                <a:ahLst/>
                <a:cxnLst/>
                <a:rect r="r" b="b" t="t" l="l"/>
                <a:pathLst>
                  <a:path h="760637" w="377834">
                    <a:moveTo>
                      <a:pt x="29695" y="0"/>
                    </a:moveTo>
                    <a:lnTo>
                      <a:pt x="348139" y="0"/>
                    </a:lnTo>
                    <a:cubicBezTo>
                      <a:pt x="356015" y="0"/>
                      <a:pt x="363568" y="3129"/>
                      <a:pt x="369137" y="8697"/>
                    </a:cubicBezTo>
                    <a:cubicBezTo>
                      <a:pt x="374705" y="14266"/>
                      <a:pt x="377834" y="21819"/>
                      <a:pt x="377834" y="29695"/>
                    </a:cubicBezTo>
                    <a:lnTo>
                      <a:pt x="377834" y="730942"/>
                    </a:lnTo>
                    <a:cubicBezTo>
                      <a:pt x="377834" y="738818"/>
                      <a:pt x="374705" y="746371"/>
                      <a:pt x="369137" y="751940"/>
                    </a:cubicBezTo>
                    <a:cubicBezTo>
                      <a:pt x="363568" y="757509"/>
                      <a:pt x="356015" y="760637"/>
                      <a:pt x="348139" y="760637"/>
                    </a:cubicBezTo>
                    <a:lnTo>
                      <a:pt x="29695" y="760637"/>
                    </a:lnTo>
                    <a:cubicBezTo>
                      <a:pt x="21819" y="760637"/>
                      <a:pt x="14266" y="757509"/>
                      <a:pt x="8697" y="751940"/>
                    </a:cubicBezTo>
                    <a:cubicBezTo>
                      <a:pt x="3129" y="746371"/>
                      <a:pt x="0" y="738818"/>
                      <a:pt x="0" y="730942"/>
                    </a:cubicBezTo>
                    <a:lnTo>
                      <a:pt x="0" y="29695"/>
                    </a:lnTo>
                    <a:cubicBezTo>
                      <a:pt x="0" y="21819"/>
                      <a:pt x="3129" y="14266"/>
                      <a:pt x="8697" y="8697"/>
                    </a:cubicBezTo>
                    <a:cubicBezTo>
                      <a:pt x="14266" y="3129"/>
                      <a:pt x="21819" y="0"/>
                      <a:pt x="29695" y="0"/>
                    </a:cubicBezTo>
                    <a:close/>
                  </a:path>
                </a:pathLst>
              </a:custGeom>
              <a:solidFill>
                <a:srgbClr val="303A4E"/>
              </a:solidFill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0"/>
                <a:ext cx="377834" cy="76063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890"/>
                  </a:lnSpc>
                </a:pPr>
              </a:p>
            </p:txBody>
          </p:sp>
        </p:grpSp>
        <p:sp>
          <p:nvSpPr>
            <p:cNvPr name="Freeform 11" id="11"/>
            <p:cNvSpPr/>
            <p:nvPr/>
          </p:nvSpPr>
          <p:spPr>
            <a:xfrm flipH="false" flipV="false" rot="0">
              <a:off x="138111" y="146397"/>
              <a:ext cx="3786500" cy="7935538"/>
            </a:xfrm>
            <a:custGeom>
              <a:avLst/>
              <a:gdLst/>
              <a:ahLst/>
              <a:cxnLst/>
              <a:rect r="r" b="b" t="t" l="l"/>
              <a:pathLst>
                <a:path h="7935538" w="3786500">
                  <a:moveTo>
                    <a:pt x="0" y="0"/>
                  </a:moveTo>
                  <a:lnTo>
                    <a:pt x="3786500" y="0"/>
                  </a:lnTo>
                  <a:lnTo>
                    <a:pt x="3786500" y="7935538"/>
                  </a:lnTo>
                  <a:lnTo>
                    <a:pt x="0" y="79355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8960955" y="1669630"/>
            <a:ext cx="2947421" cy="6512709"/>
            <a:chOff x="0" y="0"/>
            <a:chExt cx="3929894" cy="8683613"/>
          </a:xfrm>
        </p:grpSpPr>
        <p:grpSp>
          <p:nvGrpSpPr>
            <p:cNvPr name="Group 13" id="13"/>
            <p:cNvGrpSpPr/>
            <p:nvPr/>
          </p:nvGrpSpPr>
          <p:grpSpPr>
            <a:xfrm rot="0">
              <a:off x="0" y="0"/>
              <a:ext cx="3929894" cy="8683613"/>
              <a:chOff x="0" y="0"/>
              <a:chExt cx="364922" cy="806342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364922" cy="806342"/>
              </a:xfrm>
              <a:custGeom>
                <a:avLst/>
                <a:gdLst/>
                <a:ahLst/>
                <a:cxnLst/>
                <a:rect r="r" b="b" t="t" l="l"/>
                <a:pathLst>
                  <a:path h="806342" w="364922">
                    <a:moveTo>
                      <a:pt x="33596" y="0"/>
                    </a:moveTo>
                    <a:lnTo>
                      <a:pt x="331326" y="0"/>
                    </a:lnTo>
                    <a:cubicBezTo>
                      <a:pt x="340236" y="0"/>
                      <a:pt x="348781" y="3540"/>
                      <a:pt x="355082" y="9840"/>
                    </a:cubicBezTo>
                    <a:cubicBezTo>
                      <a:pt x="361382" y="16140"/>
                      <a:pt x="364922" y="24686"/>
                      <a:pt x="364922" y="33596"/>
                    </a:cubicBezTo>
                    <a:lnTo>
                      <a:pt x="364922" y="772746"/>
                    </a:lnTo>
                    <a:cubicBezTo>
                      <a:pt x="364922" y="791301"/>
                      <a:pt x="349880" y="806342"/>
                      <a:pt x="331326" y="806342"/>
                    </a:cubicBezTo>
                    <a:lnTo>
                      <a:pt x="33596" y="806342"/>
                    </a:lnTo>
                    <a:cubicBezTo>
                      <a:pt x="15041" y="806342"/>
                      <a:pt x="0" y="791301"/>
                      <a:pt x="0" y="772746"/>
                    </a:cubicBezTo>
                    <a:lnTo>
                      <a:pt x="0" y="33596"/>
                    </a:lnTo>
                    <a:cubicBezTo>
                      <a:pt x="0" y="15041"/>
                      <a:pt x="15041" y="0"/>
                      <a:pt x="33596" y="0"/>
                    </a:cubicBezTo>
                    <a:close/>
                  </a:path>
                </a:pathLst>
              </a:custGeom>
              <a:solidFill>
                <a:srgbClr val="303A4E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0"/>
                <a:ext cx="364922" cy="80634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890"/>
                  </a:lnSpc>
                </a:pPr>
              </a:p>
            </p:txBody>
          </p:sp>
        </p:grpSp>
        <p:sp>
          <p:nvSpPr>
            <p:cNvPr name="Freeform 16" id="16"/>
            <p:cNvSpPr/>
            <p:nvPr/>
          </p:nvSpPr>
          <p:spPr>
            <a:xfrm flipH="false" flipV="false" rot="0">
              <a:off x="197270" y="203491"/>
              <a:ext cx="3535354" cy="8308082"/>
            </a:xfrm>
            <a:custGeom>
              <a:avLst/>
              <a:gdLst/>
              <a:ahLst/>
              <a:cxnLst/>
              <a:rect r="r" b="b" t="t" l="l"/>
              <a:pathLst>
                <a:path h="8308082" w="3535354">
                  <a:moveTo>
                    <a:pt x="0" y="0"/>
                  </a:moveTo>
                  <a:lnTo>
                    <a:pt x="3535354" y="0"/>
                  </a:lnTo>
                  <a:lnTo>
                    <a:pt x="3535354" y="8308082"/>
                  </a:lnTo>
                  <a:lnTo>
                    <a:pt x="0" y="83080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12194126" y="3107621"/>
            <a:ext cx="4791572" cy="5727280"/>
            <a:chOff x="0" y="0"/>
            <a:chExt cx="6388763" cy="7636373"/>
          </a:xfrm>
        </p:grpSpPr>
        <p:grpSp>
          <p:nvGrpSpPr>
            <p:cNvPr name="Group 18" id="18"/>
            <p:cNvGrpSpPr/>
            <p:nvPr/>
          </p:nvGrpSpPr>
          <p:grpSpPr>
            <a:xfrm rot="0">
              <a:off x="0" y="0"/>
              <a:ext cx="6388763" cy="7636373"/>
              <a:chOff x="0" y="0"/>
              <a:chExt cx="612501" cy="732111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612501" cy="732111"/>
              </a:xfrm>
              <a:custGeom>
                <a:avLst/>
                <a:gdLst/>
                <a:ahLst/>
                <a:cxnLst/>
                <a:rect r="r" b="b" t="t" l="l"/>
                <a:pathLst>
                  <a:path h="732111" w="612501">
                    <a:moveTo>
                      <a:pt x="18934" y="0"/>
                    </a:moveTo>
                    <a:lnTo>
                      <a:pt x="593566" y="0"/>
                    </a:lnTo>
                    <a:cubicBezTo>
                      <a:pt x="604024" y="0"/>
                      <a:pt x="612501" y="8477"/>
                      <a:pt x="612501" y="18934"/>
                    </a:cubicBezTo>
                    <a:lnTo>
                      <a:pt x="612501" y="713177"/>
                    </a:lnTo>
                    <a:cubicBezTo>
                      <a:pt x="612501" y="723634"/>
                      <a:pt x="604024" y="732111"/>
                      <a:pt x="593566" y="732111"/>
                    </a:cubicBezTo>
                    <a:lnTo>
                      <a:pt x="18934" y="732111"/>
                    </a:lnTo>
                    <a:cubicBezTo>
                      <a:pt x="8477" y="732111"/>
                      <a:pt x="0" y="723634"/>
                      <a:pt x="0" y="713177"/>
                    </a:cubicBezTo>
                    <a:lnTo>
                      <a:pt x="0" y="18934"/>
                    </a:lnTo>
                    <a:cubicBezTo>
                      <a:pt x="0" y="8477"/>
                      <a:pt x="8477" y="0"/>
                      <a:pt x="18934" y="0"/>
                    </a:cubicBezTo>
                    <a:close/>
                  </a:path>
                </a:pathLst>
              </a:custGeom>
              <a:solidFill>
                <a:srgbClr val="303A4E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0"/>
                <a:ext cx="612501" cy="732111"/>
              </a:xfrm>
              <a:prstGeom prst="rect">
                <a:avLst/>
              </a:prstGeom>
            </p:spPr>
            <p:txBody>
              <a:bodyPr anchor="ctr" rtlCol="false" tIns="51979" lIns="51979" bIns="51979" rIns="51979"/>
              <a:lstStyle/>
              <a:p>
                <a:pPr algn="ctr">
                  <a:lnSpc>
                    <a:spcPts val="1890"/>
                  </a:lnSpc>
                </a:pPr>
              </a:p>
            </p:txBody>
          </p:sp>
        </p:grpSp>
        <p:sp>
          <p:nvSpPr>
            <p:cNvPr name="Freeform 21" id="21"/>
            <p:cNvSpPr/>
            <p:nvPr/>
          </p:nvSpPr>
          <p:spPr>
            <a:xfrm flipH="false" flipV="false" rot="0">
              <a:off x="151071" y="137379"/>
              <a:ext cx="6101869" cy="7379842"/>
            </a:xfrm>
            <a:custGeom>
              <a:avLst/>
              <a:gdLst/>
              <a:ahLst/>
              <a:cxnLst/>
              <a:rect r="r" b="b" t="t" l="l"/>
              <a:pathLst>
                <a:path h="7379842" w="6101869">
                  <a:moveTo>
                    <a:pt x="0" y="0"/>
                  </a:moveTo>
                  <a:lnTo>
                    <a:pt x="6101870" y="0"/>
                  </a:lnTo>
                  <a:lnTo>
                    <a:pt x="6101870" y="7379842"/>
                  </a:lnTo>
                  <a:lnTo>
                    <a:pt x="0" y="737984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8021016" y="537527"/>
            <a:ext cx="1879878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CODE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6977879" y="9693198"/>
            <a:ext cx="562842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1"/>
              </a:lnSpc>
            </a:pPr>
            <a:r>
              <a:rPr lang="en-US" sz="1351" b="true">
                <a:solidFill>
                  <a:srgbClr val="A6B1C3"/>
                </a:solidFill>
                <a:latin typeface="Aptos Bold"/>
                <a:ea typeface="Aptos Bold"/>
                <a:cs typeface="Aptos Bold"/>
                <a:sym typeface="Aptos Bol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C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523996" y="2228435"/>
            <a:ext cx="4518174" cy="5990416"/>
            <a:chOff x="0" y="0"/>
            <a:chExt cx="6024231" cy="7987222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0"/>
              <a:ext cx="6024231" cy="7987222"/>
              <a:chOff x="0" y="0"/>
              <a:chExt cx="570334" cy="756177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570334" cy="756177"/>
              </a:xfrm>
              <a:custGeom>
                <a:avLst/>
                <a:gdLst/>
                <a:ahLst/>
                <a:cxnLst/>
                <a:rect r="r" b="b" t="t" l="l"/>
                <a:pathLst>
                  <a:path h="756177" w="570334">
                    <a:moveTo>
                      <a:pt x="20080" y="0"/>
                    </a:moveTo>
                    <a:lnTo>
                      <a:pt x="550254" y="0"/>
                    </a:lnTo>
                    <a:cubicBezTo>
                      <a:pt x="561344" y="0"/>
                      <a:pt x="570334" y="8990"/>
                      <a:pt x="570334" y="20080"/>
                    </a:cubicBezTo>
                    <a:lnTo>
                      <a:pt x="570334" y="736097"/>
                    </a:lnTo>
                    <a:cubicBezTo>
                      <a:pt x="570334" y="747187"/>
                      <a:pt x="561344" y="756177"/>
                      <a:pt x="550254" y="756177"/>
                    </a:cubicBezTo>
                    <a:lnTo>
                      <a:pt x="20080" y="756177"/>
                    </a:lnTo>
                    <a:cubicBezTo>
                      <a:pt x="8990" y="756177"/>
                      <a:pt x="0" y="747187"/>
                      <a:pt x="0" y="736097"/>
                    </a:cubicBezTo>
                    <a:lnTo>
                      <a:pt x="0" y="20080"/>
                    </a:lnTo>
                    <a:cubicBezTo>
                      <a:pt x="0" y="8990"/>
                      <a:pt x="8990" y="0"/>
                      <a:pt x="20080" y="0"/>
                    </a:cubicBezTo>
                    <a:close/>
                  </a:path>
                </a:pathLst>
              </a:custGeom>
              <a:solidFill>
                <a:srgbClr val="303A4E"/>
              </a:solidFill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0"/>
                <a:ext cx="570334" cy="75617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890"/>
                  </a:lnSpc>
                </a:pPr>
              </a:p>
            </p:txBody>
          </p:sp>
        </p:grpSp>
        <p:sp>
          <p:nvSpPr>
            <p:cNvPr name="Freeform 6" id="6"/>
            <p:cNvSpPr/>
            <p:nvPr/>
          </p:nvSpPr>
          <p:spPr>
            <a:xfrm flipH="false" flipV="false" rot="0">
              <a:off x="191037" y="200759"/>
              <a:ext cx="5647130" cy="7599921"/>
            </a:xfrm>
            <a:custGeom>
              <a:avLst/>
              <a:gdLst/>
              <a:ahLst/>
              <a:cxnLst/>
              <a:rect r="r" b="b" t="t" l="l"/>
              <a:pathLst>
                <a:path h="7599921" w="5647130">
                  <a:moveTo>
                    <a:pt x="0" y="0"/>
                  </a:moveTo>
                  <a:lnTo>
                    <a:pt x="5647129" y="0"/>
                  </a:lnTo>
                  <a:lnTo>
                    <a:pt x="5647129" y="7599921"/>
                  </a:lnTo>
                  <a:lnTo>
                    <a:pt x="0" y="7599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600" r="-142126" b="-600"/>
              </a:stretch>
            </a:blipFill>
          </p:spPr>
        </p:sp>
      </p:grpSp>
      <p:grpSp>
        <p:nvGrpSpPr>
          <p:cNvPr name="Group 7" id="7"/>
          <p:cNvGrpSpPr/>
          <p:nvPr/>
        </p:nvGrpSpPr>
        <p:grpSpPr>
          <a:xfrm rot="0">
            <a:off x="737917" y="2228435"/>
            <a:ext cx="8406083" cy="4242525"/>
            <a:chOff x="0" y="0"/>
            <a:chExt cx="11208110" cy="5656700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11208110" cy="5656700"/>
              <a:chOff x="0" y="0"/>
              <a:chExt cx="1022473" cy="516039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1022473" cy="516039"/>
              </a:xfrm>
              <a:custGeom>
                <a:avLst/>
                <a:gdLst/>
                <a:ahLst/>
                <a:cxnLst/>
                <a:rect r="r" b="b" t="t" l="l"/>
                <a:pathLst>
                  <a:path h="516039" w="1022473">
                    <a:moveTo>
                      <a:pt x="7256" y="0"/>
                    </a:moveTo>
                    <a:lnTo>
                      <a:pt x="1015217" y="0"/>
                    </a:lnTo>
                    <a:cubicBezTo>
                      <a:pt x="1019224" y="0"/>
                      <a:pt x="1022473" y="3249"/>
                      <a:pt x="1022473" y="7256"/>
                    </a:cubicBezTo>
                    <a:lnTo>
                      <a:pt x="1022473" y="508783"/>
                    </a:lnTo>
                    <a:cubicBezTo>
                      <a:pt x="1022473" y="512790"/>
                      <a:pt x="1019224" y="516039"/>
                      <a:pt x="1015217" y="516039"/>
                    </a:cubicBezTo>
                    <a:lnTo>
                      <a:pt x="7256" y="516039"/>
                    </a:lnTo>
                    <a:cubicBezTo>
                      <a:pt x="3249" y="516039"/>
                      <a:pt x="0" y="512790"/>
                      <a:pt x="0" y="508783"/>
                    </a:cubicBezTo>
                    <a:lnTo>
                      <a:pt x="0" y="7256"/>
                    </a:lnTo>
                    <a:cubicBezTo>
                      <a:pt x="0" y="3249"/>
                      <a:pt x="3249" y="0"/>
                      <a:pt x="7256" y="0"/>
                    </a:cubicBezTo>
                    <a:close/>
                  </a:path>
                </a:pathLst>
              </a:custGeom>
              <a:solidFill>
                <a:srgbClr val="303A4E"/>
              </a:solidFill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0"/>
                <a:ext cx="1022473" cy="516039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890"/>
                  </a:lnSpc>
                </a:pPr>
              </a:p>
            </p:txBody>
          </p:sp>
        </p:grpSp>
        <p:sp>
          <p:nvSpPr>
            <p:cNvPr name="Freeform 11" id="11"/>
            <p:cNvSpPr/>
            <p:nvPr/>
          </p:nvSpPr>
          <p:spPr>
            <a:xfrm flipH="false" flipV="false" rot="0">
              <a:off x="179519" y="135822"/>
              <a:ext cx="10849072" cy="5385056"/>
            </a:xfrm>
            <a:custGeom>
              <a:avLst/>
              <a:gdLst/>
              <a:ahLst/>
              <a:cxnLst/>
              <a:rect r="r" b="b" t="t" l="l"/>
              <a:pathLst>
                <a:path h="5385056" w="10849072">
                  <a:moveTo>
                    <a:pt x="0" y="0"/>
                  </a:moveTo>
                  <a:lnTo>
                    <a:pt x="10849072" y="0"/>
                  </a:lnTo>
                  <a:lnTo>
                    <a:pt x="10849072" y="5385056"/>
                  </a:lnTo>
                  <a:lnTo>
                    <a:pt x="0" y="538505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5236280" y="4349697"/>
            <a:ext cx="7129810" cy="5609277"/>
            <a:chOff x="0" y="0"/>
            <a:chExt cx="9506413" cy="7479036"/>
          </a:xfrm>
        </p:grpSpPr>
        <p:grpSp>
          <p:nvGrpSpPr>
            <p:cNvPr name="Group 13" id="13"/>
            <p:cNvGrpSpPr/>
            <p:nvPr/>
          </p:nvGrpSpPr>
          <p:grpSpPr>
            <a:xfrm rot="0">
              <a:off x="0" y="0"/>
              <a:ext cx="9506413" cy="7479036"/>
              <a:chOff x="0" y="0"/>
              <a:chExt cx="961157" cy="756177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961157" cy="756177"/>
              </a:xfrm>
              <a:custGeom>
                <a:avLst/>
                <a:gdLst/>
                <a:ahLst/>
                <a:cxnLst/>
                <a:rect r="r" b="b" t="t" l="l"/>
                <a:pathLst>
                  <a:path h="756177" w="961157">
                    <a:moveTo>
                      <a:pt x="9393" y="0"/>
                    </a:moveTo>
                    <a:lnTo>
                      <a:pt x="951764" y="0"/>
                    </a:lnTo>
                    <a:cubicBezTo>
                      <a:pt x="954256" y="0"/>
                      <a:pt x="956645" y="990"/>
                      <a:pt x="958406" y="2751"/>
                    </a:cubicBezTo>
                    <a:cubicBezTo>
                      <a:pt x="960168" y="4513"/>
                      <a:pt x="961157" y="6902"/>
                      <a:pt x="961157" y="9393"/>
                    </a:cubicBezTo>
                    <a:lnTo>
                      <a:pt x="961157" y="746784"/>
                    </a:lnTo>
                    <a:cubicBezTo>
                      <a:pt x="961157" y="749275"/>
                      <a:pt x="960168" y="751664"/>
                      <a:pt x="958406" y="753426"/>
                    </a:cubicBezTo>
                    <a:cubicBezTo>
                      <a:pt x="956645" y="755187"/>
                      <a:pt x="954256" y="756177"/>
                      <a:pt x="951764" y="756177"/>
                    </a:cubicBezTo>
                    <a:lnTo>
                      <a:pt x="9393" y="756177"/>
                    </a:lnTo>
                    <a:cubicBezTo>
                      <a:pt x="6902" y="756177"/>
                      <a:pt x="4513" y="755187"/>
                      <a:pt x="2751" y="753426"/>
                    </a:cubicBezTo>
                    <a:cubicBezTo>
                      <a:pt x="990" y="751664"/>
                      <a:pt x="0" y="749275"/>
                      <a:pt x="0" y="746784"/>
                    </a:cubicBezTo>
                    <a:lnTo>
                      <a:pt x="0" y="9393"/>
                    </a:lnTo>
                    <a:cubicBezTo>
                      <a:pt x="0" y="6902"/>
                      <a:pt x="990" y="4513"/>
                      <a:pt x="2751" y="2751"/>
                    </a:cubicBezTo>
                    <a:cubicBezTo>
                      <a:pt x="4513" y="990"/>
                      <a:pt x="6902" y="0"/>
                      <a:pt x="9393" y="0"/>
                    </a:cubicBezTo>
                    <a:close/>
                  </a:path>
                </a:pathLst>
              </a:custGeom>
              <a:solidFill>
                <a:srgbClr val="303A4E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0"/>
                <a:ext cx="961157" cy="75617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890"/>
                  </a:lnSpc>
                </a:pPr>
              </a:p>
            </p:txBody>
          </p:sp>
        </p:grpSp>
        <p:sp>
          <p:nvSpPr>
            <p:cNvPr name="Freeform 16" id="16"/>
            <p:cNvSpPr/>
            <p:nvPr/>
          </p:nvSpPr>
          <p:spPr>
            <a:xfrm flipH="false" flipV="false" rot="0">
              <a:off x="114535" y="117745"/>
              <a:ext cx="9277343" cy="7243547"/>
            </a:xfrm>
            <a:custGeom>
              <a:avLst/>
              <a:gdLst/>
              <a:ahLst/>
              <a:cxnLst/>
              <a:rect r="r" b="b" t="t" l="l"/>
              <a:pathLst>
                <a:path h="7243547" w="9277343">
                  <a:moveTo>
                    <a:pt x="0" y="0"/>
                  </a:moveTo>
                  <a:lnTo>
                    <a:pt x="9277343" y="0"/>
                  </a:lnTo>
                  <a:lnTo>
                    <a:pt x="9277343" y="7243547"/>
                  </a:lnTo>
                  <a:lnTo>
                    <a:pt x="0" y="72435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38805" b="0"/>
              </a:stretch>
            </a:blip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6390189" y="330448"/>
            <a:ext cx="5507623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OUTPUT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6977879" y="9693198"/>
            <a:ext cx="562842" cy="409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1"/>
              </a:lnSpc>
            </a:pPr>
            <a:r>
              <a:rPr lang="en-US" sz="1351">
                <a:solidFill>
                  <a:srgbClr val="A6B1C3"/>
                </a:solidFill>
                <a:latin typeface="Aptos"/>
                <a:ea typeface="Aptos"/>
                <a:cs typeface="Aptos"/>
                <a:sym typeface="Aptos"/>
              </a:rPr>
              <a:t>07</a:t>
            </a:r>
          </a:p>
          <a:p>
            <a:pPr algn="r">
              <a:lnSpc>
                <a:spcPts val="1621"/>
              </a:lnSpc>
            </a:pP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0C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919667" y="489575"/>
            <a:ext cx="5435822" cy="3248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01"/>
              </a:lnSpc>
            </a:pPr>
            <a:r>
              <a:rPr lang="en-US" sz="1501" b="true">
                <a:solidFill>
                  <a:srgbClr val="5B8DEF"/>
                </a:solidFill>
                <a:latin typeface="Aptos Bold"/>
                <a:ea typeface="Aptos Bold"/>
                <a:cs typeface="Aptos Bold"/>
                <a:sym typeface="Aptos Bold"/>
              </a:rPr>
              <a:t>07 • CONCLUSION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19667" y="1079830"/>
            <a:ext cx="16417204" cy="805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404"/>
              </a:lnSpc>
            </a:pPr>
            <a:r>
              <a:rPr lang="en-US" sz="4503" b="true">
                <a:solidFill>
                  <a:srgbClr val="F1F5F9"/>
                </a:solidFill>
                <a:latin typeface="Aptos Bold"/>
                <a:ea typeface="Aptos Bold"/>
                <a:cs typeface="Aptos Bold"/>
                <a:sym typeface="Aptos Bold"/>
              </a:rPr>
              <a:t>Conclusion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947118" y="1948815"/>
            <a:ext cx="16142675" cy="6089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A6B1C3"/>
                </a:solidFill>
                <a:latin typeface="Aptos"/>
                <a:ea typeface="Aptos"/>
                <a:cs typeface="Aptos"/>
                <a:sym typeface="Aptos"/>
              </a:rPr>
              <a:t>A focused application demonstrating a real use of the doubly linked list.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377175" y="2791063"/>
            <a:ext cx="12914287" cy="24255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00"/>
              </a:lnSpc>
            </a:pPr>
            <a:r>
              <a:rPr lang="en-US" sz="2666">
                <a:solidFill>
                  <a:srgbClr val="F1F5F9"/>
                </a:solidFill>
                <a:latin typeface="Aptos"/>
                <a:ea typeface="Aptos"/>
                <a:cs typeface="Aptos"/>
                <a:sym typeface="Aptos"/>
              </a:rPr>
              <a:t>•  Playlist records are loaded dynamically from CSV files.</a:t>
            </a:r>
          </a:p>
          <a:p>
            <a:pPr algn="l">
              <a:lnSpc>
                <a:spcPts val="3200"/>
              </a:lnSpc>
            </a:pPr>
            <a:r>
              <a:rPr lang="en-US" sz="2666">
                <a:solidFill>
                  <a:srgbClr val="F1F5F9"/>
                </a:solidFill>
                <a:latin typeface="Aptos"/>
                <a:ea typeface="Aptos"/>
                <a:cs typeface="Aptos"/>
                <a:sym typeface="Aptos"/>
              </a:rPr>
              <a:t>•  Each song is represented as a node in a doubly linked list.</a:t>
            </a:r>
          </a:p>
          <a:p>
            <a:pPr algn="l">
              <a:lnSpc>
                <a:spcPts val="3200"/>
              </a:lnSpc>
            </a:pPr>
            <a:r>
              <a:rPr lang="en-US" sz="2666">
                <a:solidFill>
                  <a:srgbClr val="F1F5F9"/>
                </a:solidFill>
                <a:latin typeface="Aptos"/>
                <a:ea typeface="Aptos"/>
                <a:cs typeface="Aptos"/>
                <a:sym typeface="Aptos"/>
              </a:rPr>
              <a:t>•  Linear search provides title-based lookup.</a:t>
            </a:r>
          </a:p>
          <a:p>
            <a:pPr algn="l">
              <a:lnSpc>
                <a:spcPts val="3200"/>
              </a:lnSpc>
            </a:pPr>
            <a:r>
              <a:rPr lang="en-US" sz="2666">
                <a:solidFill>
                  <a:srgbClr val="F1F5F9"/>
                </a:solidFill>
                <a:latin typeface="Aptos"/>
                <a:ea typeface="Aptos"/>
                <a:cs typeface="Aptos"/>
                <a:sym typeface="Aptos"/>
              </a:rPr>
              <a:t>•  Previous / Next navigation directly demonstrates bidirectional links.</a:t>
            </a:r>
          </a:p>
          <a:p>
            <a:pPr algn="l">
              <a:lnSpc>
                <a:spcPts val="3200"/>
              </a:lnSpc>
            </a:pPr>
            <a:r>
              <a:rPr lang="en-US" sz="2666">
                <a:solidFill>
                  <a:srgbClr val="F1F5F9"/>
                </a:solidFill>
                <a:latin typeface="Aptos"/>
                <a:ea typeface="Aptos"/>
                <a:cs typeface="Aptos"/>
                <a:sym typeface="Aptos"/>
              </a:rPr>
              <a:t>•  Insertion and deletion demonstrate dynamic memory and pointer manipulation.</a:t>
            </a:r>
          </a:p>
          <a:p>
            <a:pPr algn="l">
              <a:lnSpc>
                <a:spcPts val="3200"/>
              </a:lnSpc>
            </a:pPr>
            <a:r>
              <a:rPr lang="en-US" sz="2666">
                <a:solidFill>
                  <a:srgbClr val="F1F5F9"/>
                </a:solidFill>
                <a:latin typeface="Aptos"/>
                <a:ea typeface="Aptos"/>
                <a:cs typeface="Aptos"/>
                <a:sym typeface="Aptos"/>
              </a:rPr>
              <a:t>•  The implementation remains compact and suitable for a small data-structures project.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6842667" y="9718138"/>
            <a:ext cx="562842" cy="209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621"/>
              </a:lnSpc>
            </a:pPr>
            <a:r>
              <a:rPr lang="en-US" sz="1351" b="true">
                <a:solidFill>
                  <a:srgbClr val="A6B1C3"/>
                </a:solidFill>
                <a:latin typeface="Aptos Bold"/>
                <a:ea typeface="Aptos Bold"/>
                <a:cs typeface="Aptos Bold"/>
                <a:sym typeface="Aptos Bold"/>
              </a:rPr>
              <a:t>08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139238" y="4274503"/>
            <a:ext cx="9525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</a:p>
        </p:txBody>
      </p:sp>
      <p:sp>
        <p:nvSpPr>
          <p:cNvPr name="TextBox 8" id="8"/>
          <p:cNvSpPr txBox="true"/>
          <p:nvPr/>
        </p:nvSpPr>
        <p:spPr>
          <a:xfrm rot="0">
            <a:off x="919667" y="5764847"/>
            <a:ext cx="8451175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299"/>
              </a:lnSpc>
            </a:pPr>
            <a:r>
              <a:rPr lang="en-US" sz="4500" b="true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Tools, Sources and References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157521" y="6793547"/>
            <a:ext cx="9922040" cy="2000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74295" indent="-287147" lvl="1">
              <a:lnSpc>
                <a:spcPts val="3192"/>
              </a:lnSpc>
              <a:buFont typeface="Arial"/>
              <a:buChar char="•"/>
            </a:pPr>
            <a:r>
              <a:rPr lang="en-US" sz="2660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rPr>
              <a:t>Visual Studio — Development &amp; debugging</a:t>
            </a:r>
          </a:p>
          <a:p>
            <a:pPr algn="l" marL="574295" indent="-287147" lvl="1">
              <a:lnSpc>
                <a:spcPts val="3192"/>
              </a:lnSpc>
              <a:buFont typeface="Arial"/>
              <a:buChar char="•"/>
            </a:pPr>
            <a:r>
              <a:rPr lang="en-US" sz="2660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rPr>
              <a:t>YouTube Music — Playlist data source</a:t>
            </a:r>
          </a:p>
          <a:p>
            <a:pPr algn="l" marL="574295" indent="-287147" lvl="1">
              <a:lnSpc>
                <a:spcPts val="3192"/>
              </a:lnSpc>
              <a:buFont typeface="Arial"/>
              <a:buChar char="•"/>
            </a:pPr>
            <a:r>
              <a:rPr lang="en-US" sz="2660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rPr>
              <a:t>yt-dlp — Data extraction</a:t>
            </a:r>
          </a:p>
          <a:p>
            <a:pPr algn="l" marL="574295" indent="-287147" lvl="1">
              <a:lnSpc>
                <a:spcPts val="3192"/>
              </a:lnSpc>
              <a:buFont typeface="Arial"/>
              <a:buChar char="•"/>
            </a:pPr>
            <a:r>
              <a:rPr lang="en-US" sz="2660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rPr>
              <a:t>GeeksforGeeks — Data-structure reference</a:t>
            </a:r>
          </a:p>
          <a:p>
            <a:pPr algn="l" marL="574295" indent="-287147" lvl="1">
              <a:lnSpc>
                <a:spcPts val="3192"/>
              </a:lnSpc>
              <a:buFont typeface="Arial"/>
              <a:buChar char="•"/>
            </a:pPr>
            <a:r>
              <a:rPr lang="en-US" sz="2660">
                <a:solidFill>
                  <a:srgbClr val="FFFFFF"/>
                </a:solidFill>
                <a:latin typeface="Aptos"/>
                <a:ea typeface="Aptos"/>
                <a:cs typeface="Aptos"/>
                <a:sym typeface="Aptos"/>
              </a:rPr>
              <a:t>ChatGPT — Development &amp; debugging assistance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506848" y="8955722"/>
            <a:ext cx="3727990" cy="9917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88"/>
              </a:lnSpc>
            </a:pPr>
            <a:r>
              <a:rPr lang="en-US" b="true" sz="5849">
                <a:solidFill>
                  <a:srgbClr val="5B8DE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DAHWnNfAWJ4</dc:identifier>
  <dcterms:modified xsi:type="dcterms:W3CDTF">2011-08-01T06:04:30Z</dcterms:modified>
  <cp:revision>1</cp:revision>
  <dc:title>Music_Playlist_Management_System_Presentation.pptx</dc:title>
</cp:coreProperties>
</file>